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Professional Slides scene s1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s2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s3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 Alphabet 10-Q p48 explicitly attributes the group TAC decline primarily to the Network-to-Search revenue mix shift; see production/source-verification-addendum.md.
Professional Slides scene s4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s5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s6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s7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 The negative equity-gains bar reverses gains in the CFO reconciliation. The full FCF-minus-economic-SBC diagnostic remains in appendix 17.
Professional Slides scene s8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s9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s10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s11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s12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s13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s14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s15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s16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s17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s18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s19
Palette mckinsey
Design hash 3c4c7a0f667d9e70bccd4f0d69509c82bd8093e8dbaedff1a6f91554be3e3376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S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-cover:title"/>
          <p:cNvSpPr/>
          <p:nvPr/>
        </p:nvSpPr>
        <p:spPr>
          <a:xfrm>
            <a:off x="571500" y="2976562"/>
            <a:ext cx="110490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4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Investment Review</a:t>
            </a:r>
            <a:endParaRPr lang="en-US" sz="3420" dirty="0"/>
          </a:p>
        </p:txBody>
      </p:sp>
      <p:sp>
        <p:nvSpPr>
          <p:cNvPr id="3" name="ps:s1-cover:subtitle"/>
          <p:cNvSpPr/>
          <p:nvPr/>
        </p:nvSpPr>
        <p:spPr>
          <a:xfrm>
            <a:off x="571500" y="3700463"/>
            <a:ext cx="110490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2-chrome:title"/>
          <p:cNvSpPr/>
          <p:nvPr/>
        </p:nvSpPr>
        <p:spPr>
          <a:xfrm>
            <a:off x="571500" y="457200"/>
            <a:ext cx="110490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ps:s2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4" name="ps:s2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2-summary-action:surface"/>
          <p:cNvSpPr/>
          <p:nvPr/>
        </p:nvSpPr>
        <p:spPr>
          <a:xfrm>
            <a:off x="571500" y="5181600"/>
            <a:ext cx="11049000" cy="685800"/>
          </a:xfrm>
          <a:prstGeom prst="roundRect">
            <a:avLst>
              <a:gd name="adj" fmla="val 5556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2-summary-action:body"/>
          <p:cNvSpPr/>
          <p:nvPr/>
        </p:nvSpPr>
        <p:spPr>
          <a:xfrm>
            <a:off x="800100" y="5343525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new capital under the reference assumptions, and revisit when cash-return evidence improves or the committee accepts the stronger growth</a:t>
            </a:r>
            <a:endParaRPr lang="en-US" sz="1260" dirty="0"/>
          </a:p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lower-WACC countercase.</a:t>
            </a:r>
            <a:endParaRPr lang="en-US" sz="1260" dirty="0"/>
          </a:p>
        </p:txBody>
      </p:sp>
      <p:sp>
        <p:nvSpPr>
          <p:cNvPr id="7" name="ps:s2-theme-1-heading:heading"/>
          <p:cNvSpPr/>
          <p:nvPr/>
        </p:nvSpPr>
        <p:spPr>
          <a:xfrm>
            <a:off x="571500" y="1428750"/>
            <a:ext cx="1104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Cloud support the operating case, with Cloud mix still unresolved</a:t>
            </a:r>
            <a:endParaRPr lang="en-US" sz="1440" dirty="0"/>
          </a:p>
        </p:txBody>
      </p:sp>
      <p:sp>
        <p:nvSpPr>
          <p:cNvPr id="8" name="ps:s2-theme-1-proof:text"/>
          <p:cNvSpPr/>
          <p:nvPr/>
        </p:nvSpPr>
        <p:spPr>
          <a:xfrm>
            <a:off x="571500" y="1809750"/>
            <a:ext cx="11049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grew 16.8% and Cloud grew 81.8%, together supplying 87% of the revenue increase; present monetization does not show a collapsing core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margin reached 35.6%, but TPU sales and acquired Wiz revenue complicate extrapolation; the filing does not isolate organic services growth or AI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economics.</a:t>
            </a:r>
            <a:endParaRPr lang="en-US" sz="1260" dirty="0"/>
          </a:p>
        </p:txBody>
      </p:sp>
      <p:sp>
        <p:nvSpPr>
          <p:cNvPr id="9" name="ps:s2-theme-2-heading:heading"/>
          <p:cNvSpPr/>
          <p:nvPr/>
        </p:nvSpPr>
        <p:spPr>
          <a:xfrm>
            <a:off x="571500" y="2800350"/>
            <a:ext cx="1104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requirements are absorbing the gains before they reach common owners</a:t>
            </a:r>
            <a:endParaRPr lang="en-US" sz="1440" dirty="0"/>
          </a:p>
        </p:txBody>
      </p:sp>
      <p:sp>
        <p:nvSpPr>
          <p:cNvPr id="10" name="ps:s2-theme-2-proof:text"/>
          <p:cNvSpPr/>
          <p:nvPr/>
        </p:nvSpPr>
        <p:spPr>
          <a:xfrm>
            <a:off x="571500" y="3181350"/>
            <a:ext cx="110490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disclosed equity-gain effect explains $6.26 of $9.11 EPS; H1 reported net income of $174.8 billion converted to only $4.3 billion FCF.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Q2 capex exceeded CFO, while new common/preferred funding and large contractual obligations raise the cost of relying on future cash recovery.</a:t>
            </a:r>
            <a:endParaRPr lang="en-US" sz="1260" dirty="0"/>
          </a:p>
        </p:txBody>
      </p:sp>
      <p:sp>
        <p:nvSpPr>
          <p:cNvPr id="11" name="ps:s2-theme-3-heading:heading"/>
          <p:cNvSpPr/>
          <p:nvPr/>
        </p:nvSpPr>
        <p:spPr>
          <a:xfrm>
            <a:off x="571500" y="3810000"/>
            <a:ext cx="1104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requires a stronger cash-return case or a lower assumed enterprise WACC</a:t>
            </a:r>
            <a:endParaRPr lang="en-US" sz="1440" dirty="0"/>
          </a:p>
        </p:txBody>
      </p:sp>
      <p:sp>
        <p:nvSpPr>
          <p:cNvPr id="12" name="ps:s2-theme-3-proof:text"/>
          <p:cNvSpPr/>
          <p:nvPr/>
        </p:nvSpPr>
        <p:spPr>
          <a:xfrm>
            <a:off x="571500" y="4191000"/>
            <a:ext cx="11049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a 10% assumed WACC and 3% terminal growth, illustrative values are $50, $185 and $303 versus $335; even the reference case assumes Cloud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$419 billion and capital intensity halves.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strongest countercase gives $444 at 8%, so accepting lower assumed enterprise WACC and sustained upside growth would reverse the decision;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consequential assumptions, not established facts.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3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and Search supplied 87% of Alphabet's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$23.4 billion revenue increase</a:t>
            </a:r>
            <a:endParaRPr lang="en-US" sz="2700" dirty="0"/>
          </a:p>
        </p:txBody>
      </p:sp>
      <p:sp>
        <p:nvSpPr>
          <p:cNvPr id="3" name="ps:s3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4" name="ps:s3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2026, pp 1–2; analyst calculations. Reported / constant-currency group growth: 24% / 23%; labels rounded.</a:t>
            </a:r>
            <a:endParaRPr lang="en-US" sz="720" dirty="0"/>
          </a:p>
        </p:txBody>
      </p:sp>
      <p:sp>
        <p:nvSpPr>
          <p:cNvPr id="5" name="ps:s3-revenue-contribution-heading:heading"/>
          <p:cNvSpPr/>
          <p:nvPr/>
        </p:nvSpPr>
        <p:spPr>
          <a:xfrm>
            <a:off x="571500" y="1771650"/>
            <a:ext cx="3533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to Q2 2026 revenue growth,</a:t>
            </a:r>
            <a:endParaRPr lang="en-US" sz="1440" dirty="0"/>
          </a:p>
        </p:txBody>
      </p:sp>
      <p:sp>
        <p:nvSpPr>
          <p:cNvPr id="6" name="ps:s3-revenue-contribution-heading:unit"/>
          <p:cNvSpPr/>
          <p:nvPr/>
        </p:nvSpPr>
        <p:spPr>
          <a:xfrm>
            <a:off x="4105275" y="1771650"/>
            <a:ext cx="75152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Percentage points of Q2 2025 group revenue</a:t>
            </a:r>
            <a:endParaRPr lang="en-US" sz="1440" dirty="0"/>
          </a:p>
        </p:txBody>
      </p:sp>
      <p:sp>
        <p:nvSpPr>
          <p:cNvPr id="7" name="ps:s3-revenue-contribution-heading:rule"/>
          <p:cNvSpPr/>
          <p:nvPr/>
        </p:nvSpPr>
        <p:spPr>
          <a:xfrm>
            <a:off x="571500" y="2057400"/>
            <a:ext cx="1104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3-revenue-contribution:axis-label:0"/>
          <p:cNvSpPr/>
          <p:nvPr/>
        </p:nvSpPr>
        <p:spPr>
          <a:xfrm>
            <a:off x="552450" y="49625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9" name="ps:s3-revenue-contribution:axis-label:1"/>
          <p:cNvSpPr/>
          <p:nvPr/>
        </p:nvSpPr>
        <p:spPr>
          <a:xfrm>
            <a:off x="552450" y="4302919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60" dirty="0"/>
          </a:p>
        </p:txBody>
      </p:sp>
      <p:sp>
        <p:nvSpPr>
          <p:cNvPr id="10" name="ps:s3-revenue-contribution:axis-label:2"/>
          <p:cNvSpPr/>
          <p:nvPr/>
        </p:nvSpPr>
        <p:spPr>
          <a:xfrm>
            <a:off x="552450" y="364331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60" dirty="0"/>
          </a:p>
        </p:txBody>
      </p:sp>
      <p:sp>
        <p:nvSpPr>
          <p:cNvPr id="11" name="ps:s3-revenue-contribution:axis-label:3"/>
          <p:cNvSpPr/>
          <p:nvPr/>
        </p:nvSpPr>
        <p:spPr>
          <a:xfrm>
            <a:off x="552450" y="298370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60" dirty="0"/>
          </a:p>
        </p:txBody>
      </p:sp>
      <p:sp>
        <p:nvSpPr>
          <p:cNvPr id="12" name="ps:s3-revenue-contribution:axis-label:4"/>
          <p:cNvSpPr/>
          <p:nvPr/>
        </p:nvSpPr>
        <p:spPr>
          <a:xfrm>
            <a:off x="552450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60" dirty="0"/>
          </a:p>
        </p:txBody>
      </p:sp>
      <p:sp>
        <p:nvSpPr>
          <p:cNvPr id="13" name="ps:s3-revenue-contribution:y-axis"/>
          <p:cNvSpPr/>
          <p:nvPr/>
        </p:nvSpPr>
        <p:spPr>
          <a:xfrm>
            <a:off x="1085850" y="2438400"/>
            <a:ext cx="0" cy="263842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ps:s3-revenue-contribution:x-axis"/>
          <p:cNvSpPr/>
          <p:nvPr/>
        </p:nvSpPr>
        <p:spPr>
          <a:xfrm>
            <a:off x="1085850" y="5076825"/>
            <a:ext cx="10382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ps:s3-revenue-contribution:bar:search"/>
          <p:cNvSpPr/>
          <p:nvPr/>
        </p:nvSpPr>
        <p:spPr>
          <a:xfrm>
            <a:off x="1345406" y="4189430"/>
            <a:ext cx="778669" cy="887396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ps:s3-revenue-contribution:value-label:search"/>
          <p:cNvSpPr/>
          <p:nvPr/>
        </p:nvSpPr>
        <p:spPr>
          <a:xfrm>
            <a:off x="1250157" y="3941779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+9.42</a:t>
            </a:r>
            <a:endParaRPr lang="en-US" sz="1260" dirty="0"/>
          </a:p>
        </p:txBody>
      </p:sp>
      <p:sp>
        <p:nvSpPr>
          <p:cNvPr id="17" name="ps:s3-revenue-contribution:category:search"/>
          <p:cNvSpPr/>
          <p:nvPr/>
        </p:nvSpPr>
        <p:spPr>
          <a:xfrm>
            <a:off x="1085850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60" dirty="0"/>
          </a:p>
        </p:txBody>
      </p:sp>
      <p:sp>
        <p:nvSpPr>
          <p:cNvPr id="18" name="ps:s3-revenue-contribution:bar:youtube"/>
          <p:cNvSpPr/>
          <p:nvPr/>
        </p:nvSpPr>
        <p:spPr>
          <a:xfrm>
            <a:off x="2643188" y="4066400"/>
            <a:ext cx="778669" cy="12303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ps:s3-revenue-contribution:value-label:youtube"/>
          <p:cNvSpPr/>
          <p:nvPr/>
        </p:nvSpPr>
        <p:spPr>
          <a:xfrm>
            <a:off x="2547937" y="3818749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+1.31</a:t>
            </a:r>
            <a:endParaRPr lang="en-US" sz="1260" dirty="0"/>
          </a:p>
        </p:txBody>
      </p:sp>
      <p:sp>
        <p:nvSpPr>
          <p:cNvPr id="20" name="ps:s3-revenue-contribution:connector:1"/>
          <p:cNvSpPr/>
          <p:nvPr/>
        </p:nvSpPr>
        <p:spPr>
          <a:xfrm>
            <a:off x="2124075" y="4189430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3-revenue-contribution:category:youtube"/>
          <p:cNvSpPr/>
          <p:nvPr/>
        </p:nvSpPr>
        <p:spPr>
          <a:xfrm>
            <a:off x="2383631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260" dirty="0"/>
          </a:p>
        </p:txBody>
      </p:sp>
      <p:sp>
        <p:nvSpPr>
          <p:cNvPr id="22" name="ps:s3-revenue-contribution:bar:network"/>
          <p:cNvSpPr/>
          <p:nvPr/>
        </p:nvSpPr>
        <p:spPr>
          <a:xfrm>
            <a:off x="3940969" y="4066400"/>
            <a:ext cx="778669" cy="19050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3" name="ps:s3-revenue-contribution:value-label:network"/>
          <p:cNvSpPr/>
          <p:nvPr/>
        </p:nvSpPr>
        <p:spPr>
          <a:xfrm>
            <a:off x="3845719" y="3818749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260" dirty="0"/>
          </a:p>
        </p:txBody>
      </p:sp>
      <p:sp>
        <p:nvSpPr>
          <p:cNvPr id="24" name="ps:s3-revenue-contribution:connector:2"/>
          <p:cNvSpPr/>
          <p:nvPr/>
        </p:nvSpPr>
        <p:spPr>
          <a:xfrm>
            <a:off x="3421857" y="4066400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5" name="ps:s3-revenue-contribution:category:network"/>
          <p:cNvSpPr/>
          <p:nvPr/>
        </p:nvSpPr>
        <p:spPr>
          <a:xfrm>
            <a:off x="3681413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60" dirty="0"/>
          </a:p>
        </p:txBody>
      </p:sp>
      <p:sp>
        <p:nvSpPr>
          <p:cNvPr id="26" name="ps:s3-revenue-contribution:bar:subs-devices"/>
          <p:cNvSpPr/>
          <p:nvPr/>
        </p:nvSpPr>
        <p:spPr>
          <a:xfrm>
            <a:off x="5238750" y="3904478"/>
            <a:ext cx="778669" cy="16690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ps:s3-revenue-contribution:value-label:subs-devices"/>
          <p:cNvSpPr/>
          <p:nvPr/>
        </p:nvSpPr>
        <p:spPr>
          <a:xfrm>
            <a:off x="5143500" y="3656827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+1.77</a:t>
            </a:r>
            <a:endParaRPr lang="en-US" sz="1260" dirty="0"/>
          </a:p>
        </p:txBody>
      </p:sp>
      <p:sp>
        <p:nvSpPr>
          <p:cNvPr id="28" name="ps:s3-revenue-contribution:connector:3"/>
          <p:cNvSpPr/>
          <p:nvPr/>
        </p:nvSpPr>
        <p:spPr>
          <a:xfrm>
            <a:off x="4719637" y="4071384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9" name="ps:s3-revenue-contribution:category:subs-devices"/>
          <p:cNvSpPr/>
          <p:nvPr/>
        </p:nvSpPr>
        <p:spPr>
          <a:xfrm>
            <a:off x="4979194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 / devices</a:t>
            </a:r>
            <a:endParaRPr lang="en-US" sz="1260" dirty="0"/>
          </a:p>
        </p:txBody>
      </p:sp>
      <p:sp>
        <p:nvSpPr>
          <p:cNvPr id="30" name="ps:s3-revenue-contribution:bar:cloud"/>
          <p:cNvSpPr/>
          <p:nvPr/>
        </p:nvSpPr>
        <p:spPr>
          <a:xfrm>
            <a:off x="6536532" y="2815486"/>
            <a:ext cx="778669" cy="108899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1" name="ps:s3-revenue-contribution:value-label:cloud"/>
          <p:cNvSpPr/>
          <p:nvPr/>
        </p:nvSpPr>
        <p:spPr>
          <a:xfrm>
            <a:off x="6441281" y="2567836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+11.56</a:t>
            </a:r>
            <a:endParaRPr lang="en-US" sz="1260" dirty="0"/>
          </a:p>
        </p:txBody>
      </p:sp>
      <p:sp>
        <p:nvSpPr>
          <p:cNvPr id="32" name="ps:s3-revenue-contribution:connector:4"/>
          <p:cNvSpPr/>
          <p:nvPr/>
        </p:nvSpPr>
        <p:spPr>
          <a:xfrm>
            <a:off x="6017419" y="3904478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3" name="ps:s3-revenue-contribution:category:cloud"/>
          <p:cNvSpPr/>
          <p:nvPr/>
        </p:nvSpPr>
        <p:spPr>
          <a:xfrm>
            <a:off x="6276975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60" dirty="0"/>
          </a:p>
        </p:txBody>
      </p:sp>
      <p:sp>
        <p:nvSpPr>
          <p:cNvPr id="34" name="ps:s3-revenue-contribution:bar:other-bets"/>
          <p:cNvSpPr/>
          <p:nvPr/>
        </p:nvSpPr>
        <p:spPr>
          <a:xfrm>
            <a:off x="7834312" y="2814606"/>
            <a:ext cx="778669" cy="190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ps:s3-revenue-contribution:value-label:other-bets"/>
          <p:cNvSpPr/>
          <p:nvPr/>
        </p:nvSpPr>
        <p:spPr>
          <a:xfrm>
            <a:off x="7739063" y="2566956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260" dirty="0"/>
          </a:p>
        </p:txBody>
      </p:sp>
      <p:sp>
        <p:nvSpPr>
          <p:cNvPr id="36" name="ps:s3-revenue-contribution:connector:5"/>
          <p:cNvSpPr/>
          <p:nvPr/>
        </p:nvSpPr>
        <p:spPr>
          <a:xfrm>
            <a:off x="7315200" y="2815486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7" name="ps:s3-revenue-contribution:category:other-bets"/>
          <p:cNvSpPr/>
          <p:nvPr/>
        </p:nvSpPr>
        <p:spPr>
          <a:xfrm>
            <a:off x="7574756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Bets</a:t>
            </a:r>
            <a:endParaRPr lang="en-US" sz="1260" dirty="0"/>
          </a:p>
        </p:txBody>
      </p:sp>
      <p:sp>
        <p:nvSpPr>
          <p:cNvPr id="38" name="ps:s3-revenue-contribution:bar:hedging"/>
          <p:cNvSpPr/>
          <p:nvPr/>
        </p:nvSpPr>
        <p:spPr>
          <a:xfrm>
            <a:off x="9132094" y="2793304"/>
            <a:ext cx="778669" cy="2130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9" name="ps:s3-revenue-contribution:value-label:hedging"/>
          <p:cNvSpPr/>
          <p:nvPr/>
        </p:nvSpPr>
        <p:spPr>
          <a:xfrm>
            <a:off x="9036844" y="2545653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+0.23</a:t>
            </a:r>
            <a:endParaRPr lang="en-US" sz="1260" dirty="0"/>
          </a:p>
        </p:txBody>
      </p:sp>
      <p:sp>
        <p:nvSpPr>
          <p:cNvPr id="40" name="ps:s3-revenue-contribution:connector:6"/>
          <p:cNvSpPr/>
          <p:nvPr/>
        </p:nvSpPr>
        <p:spPr>
          <a:xfrm>
            <a:off x="8612981" y="2814606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1" name="ps:s3-revenue-contribution:category:hedging"/>
          <p:cNvSpPr/>
          <p:nvPr/>
        </p:nvSpPr>
        <p:spPr>
          <a:xfrm>
            <a:off x="8872538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</a:t>
            </a:r>
            <a:endParaRPr lang="en-US" sz="1260" dirty="0"/>
          </a:p>
        </p:txBody>
      </p:sp>
      <p:sp>
        <p:nvSpPr>
          <p:cNvPr id="42" name="ps:s3-revenue-contribution:bar:total"/>
          <p:cNvSpPr/>
          <p:nvPr/>
        </p:nvSpPr>
        <p:spPr>
          <a:xfrm>
            <a:off x="10429875" y="2793304"/>
            <a:ext cx="778669" cy="228352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ps:s3-revenue-contribution:value-label:total"/>
          <p:cNvSpPr/>
          <p:nvPr/>
        </p:nvSpPr>
        <p:spPr>
          <a:xfrm>
            <a:off x="10334625" y="2545653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24.23</a:t>
            </a:r>
            <a:endParaRPr lang="en-US" sz="1260" dirty="0"/>
          </a:p>
        </p:txBody>
      </p:sp>
      <p:sp>
        <p:nvSpPr>
          <p:cNvPr id="44" name="ps:s3-revenue-contribution:connector:7"/>
          <p:cNvSpPr/>
          <p:nvPr/>
        </p:nvSpPr>
        <p:spPr>
          <a:xfrm>
            <a:off x="9910763" y="2793304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5" name="ps:s3-revenue-contribution:category:total"/>
          <p:cNvSpPr/>
          <p:nvPr/>
        </p:nvSpPr>
        <p:spPr>
          <a:xfrm>
            <a:off x="10170319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60" dirty="0"/>
          </a:p>
        </p:txBody>
      </p:sp>
      <p:sp>
        <p:nvSpPr>
          <p:cNvPr id="46" name="ps:s3-growth-underwriting-priority:surface"/>
          <p:cNvSpPr/>
          <p:nvPr/>
        </p:nvSpPr>
        <p:spPr>
          <a:xfrm>
            <a:off x="571500" y="5876925"/>
            <a:ext cx="11049000" cy="485775"/>
          </a:xfrm>
          <a:prstGeom prst="roundRect">
            <a:avLst>
              <a:gd name="adj" fmla="val 7843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3-growth-underwriting-priority:body"/>
          <p:cNvSpPr/>
          <p:nvPr/>
        </p:nvSpPr>
        <p:spPr>
          <a:xfrm>
            <a:off x="800100" y="6029325"/>
            <a:ext cx="10591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prioritize sustained Cloud growth and Search durability: weakness in either would be difficult for the smaller businesses to offset.</a:t>
            </a:r>
            <a:endParaRPr lang="en-US" sz="12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4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growth shows current demand durability, while AI unit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remain unproven</a:t>
            </a:r>
            <a:endParaRPr lang="en-US" sz="2700" dirty="0"/>
          </a:p>
        </p:txBody>
      </p:sp>
      <p:sp>
        <p:nvSpPr>
          <p:cNvPr id="3" name="ps:s4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4" name="ps:s4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 TAC mix attribution: MD&amp;A p48.</a:t>
            </a:r>
            <a:endParaRPr lang="en-US" sz="720" dirty="0"/>
          </a:p>
        </p:txBody>
      </p:sp>
      <p:sp>
        <p:nvSpPr>
          <p:cNvPr id="5" name="ps:s4-search-evidence:header-text:0"/>
          <p:cNvSpPr/>
          <p:nvPr/>
        </p:nvSpPr>
        <p:spPr>
          <a:xfrm>
            <a:off x="685800" y="1885950"/>
            <a:ext cx="14287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60" dirty="0"/>
          </a:p>
        </p:txBody>
      </p:sp>
      <p:sp>
        <p:nvSpPr>
          <p:cNvPr id="6" name="ps:s4-search-evidence:header-rule:0"/>
          <p:cNvSpPr/>
          <p:nvPr/>
        </p:nvSpPr>
        <p:spPr>
          <a:xfrm>
            <a:off x="571500" y="2181225"/>
            <a:ext cx="15811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4-search-evidence:header-text:1"/>
          <p:cNvSpPr/>
          <p:nvPr/>
        </p:nvSpPr>
        <p:spPr>
          <a:xfrm>
            <a:off x="2343150" y="1885950"/>
            <a:ext cx="25336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Q2</a:t>
            </a:r>
            <a:endParaRPr lang="en-US" sz="1260" dirty="0"/>
          </a:p>
        </p:txBody>
      </p:sp>
      <p:sp>
        <p:nvSpPr>
          <p:cNvPr id="8" name="ps:s4-search-evidence:header-rule:1"/>
          <p:cNvSpPr/>
          <p:nvPr/>
        </p:nvSpPr>
        <p:spPr>
          <a:xfrm>
            <a:off x="2228850" y="2181225"/>
            <a:ext cx="26860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4-search-evidence:header-text:3"/>
          <p:cNvSpPr/>
          <p:nvPr/>
        </p:nvSpPr>
        <p:spPr>
          <a:xfrm>
            <a:off x="5713095" y="1885950"/>
            <a:ext cx="23679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supports</a:t>
            </a:r>
            <a:endParaRPr lang="en-US" sz="1260" dirty="0"/>
          </a:p>
        </p:txBody>
      </p:sp>
      <p:sp>
        <p:nvSpPr>
          <p:cNvPr id="10" name="ps:s4-search-evidence:header-rule:3"/>
          <p:cNvSpPr/>
          <p:nvPr/>
        </p:nvSpPr>
        <p:spPr>
          <a:xfrm>
            <a:off x="5598795" y="2181225"/>
            <a:ext cx="252031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4-search-evidence:header-text:4"/>
          <p:cNvSpPr/>
          <p:nvPr/>
        </p:nvSpPr>
        <p:spPr>
          <a:xfrm>
            <a:off x="8309610" y="1885950"/>
            <a:ext cx="31965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change the inference</a:t>
            </a:r>
            <a:endParaRPr lang="en-US" sz="1260" dirty="0"/>
          </a:p>
        </p:txBody>
      </p:sp>
      <p:sp>
        <p:nvSpPr>
          <p:cNvPr id="12" name="ps:s4-search-evidence:header-rule:4"/>
          <p:cNvSpPr/>
          <p:nvPr/>
        </p:nvSpPr>
        <p:spPr>
          <a:xfrm>
            <a:off x="8195310" y="2181225"/>
            <a:ext cx="33489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3" name="ps:s4-search-evidence:cell:0:0"/>
          <p:cNvSpPr/>
          <p:nvPr/>
        </p:nvSpPr>
        <p:spPr>
          <a:xfrm>
            <a:off x="571500" y="2219325"/>
            <a:ext cx="158115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ps:s4-search-evidence:cell-text:0:0:0"/>
          <p:cNvSpPr/>
          <p:nvPr/>
        </p:nvSpPr>
        <p:spPr>
          <a:xfrm>
            <a:off x="685800" y="2386013"/>
            <a:ext cx="142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260" dirty="0"/>
          </a:p>
        </p:txBody>
      </p:sp>
      <p:sp>
        <p:nvSpPr>
          <p:cNvPr id="15" name="ps:s4-search-evidence-cell-0-0:rule"/>
          <p:cNvSpPr/>
          <p:nvPr/>
        </p:nvSpPr>
        <p:spPr>
          <a:xfrm>
            <a:off x="571500" y="2952750"/>
            <a:ext cx="15811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4-search-evidence:cell-text:0:1:0"/>
          <p:cNvSpPr/>
          <p:nvPr/>
        </p:nvSpPr>
        <p:spPr>
          <a:xfrm>
            <a:off x="2343150" y="2295525"/>
            <a:ext cx="25336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revenue rose 16.8%; paid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rose 13% and CPC rose 3%.</a:t>
            </a:r>
            <a:endParaRPr lang="en-US" sz="1260" dirty="0"/>
          </a:p>
        </p:txBody>
      </p:sp>
      <p:sp>
        <p:nvSpPr>
          <p:cNvPr id="17" name="ps:s4-search-evidence-cell-0-1:rule"/>
          <p:cNvSpPr/>
          <p:nvPr/>
        </p:nvSpPr>
        <p:spPr>
          <a:xfrm>
            <a:off x="2228850" y="2952750"/>
            <a:ext cx="26860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4-search-evidence-cell-0-2:arrow:0"/>
          <p:cNvSpPr/>
          <p:nvPr/>
        </p:nvSpPr>
        <p:spPr>
          <a:xfrm>
            <a:off x="5180648" y="2452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ps:s4-search-evidence-cell-0-2:arrow:1"/>
          <p:cNvSpPr/>
          <p:nvPr/>
        </p:nvSpPr>
        <p:spPr>
          <a:xfrm>
            <a:off x="5269802" y="2514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ps:s4-search-evidence-cell-0-2:arrow:2"/>
          <p:cNvSpPr/>
          <p:nvPr/>
        </p:nvSpPr>
        <p:spPr>
          <a:xfrm flipH="1">
            <a:off x="5269802" y="2566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ps:s4-search-evidence:cell-text:0:3:0"/>
          <p:cNvSpPr/>
          <p:nvPr/>
        </p:nvSpPr>
        <p:spPr>
          <a:xfrm>
            <a:off x="5713095" y="2295525"/>
            <a:ext cx="236791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engagement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 pricing both contributed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current growth.</a:t>
            </a:r>
            <a:endParaRPr lang="en-US" sz="1260" dirty="0"/>
          </a:p>
        </p:txBody>
      </p:sp>
      <p:sp>
        <p:nvSpPr>
          <p:cNvPr id="22" name="ps:s4-search-evidence-cell-0-3:rule"/>
          <p:cNvSpPr/>
          <p:nvPr/>
        </p:nvSpPr>
        <p:spPr>
          <a:xfrm>
            <a:off x="5598795" y="2952750"/>
            <a:ext cx="252031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4-search-evidence:cell-text:0:4:0"/>
          <p:cNvSpPr/>
          <p:nvPr/>
        </p:nvSpPr>
        <p:spPr>
          <a:xfrm>
            <a:off x="8309610" y="2295525"/>
            <a:ext cx="31965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revenue per query and mix-adjusted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economics are not disclosed.</a:t>
            </a:r>
            <a:endParaRPr lang="en-US" sz="1260" dirty="0"/>
          </a:p>
        </p:txBody>
      </p:sp>
      <p:sp>
        <p:nvSpPr>
          <p:cNvPr id="24" name="ps:s4-search-evidence-cell-0-4:rule"/>
          <p:cNvSpPr/>
          <p:nvPr/>
        </p:nvSpPr>
        <p:spPr>
          <a:xfrm>
            <a:off x="8195310" y="2952750"/>
            <a:ext cx="33489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4-search-evidence:cell:1:0"/>
          <p:cNvSpPr/>
          <p:nvPr/>
        </p:nvSpPr>
        <p:spPr>
          <a:xfrm>
            <a:off x="571500" y="2990850"/>
            <a:ext cx="1581150" cy="105727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ps:s4-search-evidence:cell-text:1:0:0"/>
          <p:cNvSpPr/>
          <p:nvPr/>
        </p:nvSpPr>
        <p:spPr>
          <a:xfrm>
            <a:off x="685800" y="3429000"/>
            <a:ext cx="14287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cost</a:t>
            </a:r>
            <a:endParaRPr lang="en-US" sz="1260" dirty="0"/>
          </a:p>
        </p:txBody>
      </p:sp>
      <p:sp>
        <p:nvSpPr>
          <p:cNvPr id="27" name="ps:s4-search-evidence-cell-1-0:rule"/>
          <p:cNvSpPr/>
          <p:nvPr/>
        </p:nvSpPr>
        <p:spPr>
          <a:xfrm>
            <a:off x="571500" y="4086225"/>
            <a:ext cx="15811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4-search-evidence:cell-text:1:1:0"/>
          <p:cNvSpPr/>
          <p:nvPr/>
        </p:nvSpPr>
        <p:spPr>
          <a:xfrm>
            <a:off x="2343150" y="3067050"/>
            <a:ext cx="253365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TAC rate was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substantially consistent; the group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rate fell from 20.6% to 19.8%.</a:t>
            </a:r>
            <a:endParaRPr lang="en-US" sz="1260" dirty="0"/>
          </a:p>
        </p:txBody>
      </p:sp>
      <p:sp>
        <p:nvSpPr>
          <p:cNvPr id="29" name="ps:s4-search-evidence-cell-1-1:rule"/>
          <p:cNvSpPr/>
          <p:nvPr/>
        </p:nvSpPr>
        <p:spPr>
          <a:xfrm>
            <a:off x="2228850" y="4086225"/>
            <a:ext cx="26860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4-search-evidence-cell-1-2:arrow:0"/>
          <p:cNvSpPr/>
          <p:nvPr/>
        </p:nvSpPr>
        <p:spPr>
          <a:xfrm>
            <a:off x="5180648" y="3405187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ps:s4-search-evidence-cell-1-2:arrow:1"/>
          <p:cNvSpPr/>
          <p:nvPr/>
        </p:nvSpPr>
        <p:spPr>
          <a:xfrm>
            <a:off x="5269802" y="3466909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2" name="ps:s4-search-evidence-cell-1-2:arrow:2"/>
          <p:cNvSpPr/>
          <p:nvPr/>
        </p:nvSpPr>
        <p:spPr>
          <a:xfrm flipH="1">
            <a:off x="5269802" y="3519487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3" name="ps:s4-search-evidence:cell-text:1:3:0"/>
          <p:cNvSpPr/>
          <p:nvPr/>
        </p:nvSpPr>
        <p:spPr>
          <a:xfrm>
            <a:off x="5713095" y="3067050"/>
            <a:ext cx="2367915" cy="904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attributes the group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decline mainly to a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Network-to-Search revenue mix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shift, not cheaper Search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distribution.</a:t>
            </a:r>
            <a:endParaRPr lang="en-US" sz="1260" dirty="0"/>
          </a:p>
        </p:txBody>
      </p:sp>
      <p:sp>
        <p:nvSpPr>
          <p:cNvPr id="34" name="ps:s4-search-evidence-cell-1-3:rule"/>
          <p:cNvSpPr/>
          <p:nvPr/>
        </p:nvSpPr>
        <p:spPr>
          <a:xfrm>
            <a:off x="5598795" y="4086225"/>
            <a:ext cx="252031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4-search-evidence:cell-text:1:4:0"/>
          <p:cNvSpPr/>
          <p:nvPr/>
        </p:nvSpPr>
        <p:spPr>
          <a:xfrm>
            <a:off x="8309610" y="3067050"/>
            <a:ext cx="31965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distribution and data-sharing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remedies could change access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economics.</a:t>
            </a:r>
            <a:endParaRPr lang="en-US" sz="1260" dirty="0"/>
          </a:p>
        </p:txBody>
      </p:sp>
      <p:sp>
        <p:nvSpPr>
          <p:cNvPr id="36" name="ps:s4-search-evidence-cell-1-4:rule"/>
          <p:cNvSpPr/>
          <p:nvPr/>
        </p:nvSpPr>
        <p:spPr>
          <a:xfrm>
            <a:off x="8195310" y="4086225"/>
            <a:ext cx="33489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4-search-evidence:cell:2:0"/>
          <p:cNvSpPr/>
          <p:nvPr/>
        </p:nvSpPr>
        <p:spPr>
          <a:xfrm>
            <a:off x="571500" y="4124325"/>
            <a:ext cx="158115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ps:s4-search-evidence:cell-text:2:0:0"/>
          <p:cNvSpPr/>
          <p:nvPr/>
        </p:nvSpPr>
        <p:spPr>
          <a:xfrm>
            <a:off x="685800" y="4381500"/>
            <a:ext cx="14287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demand</a:t>
            </a:r>
            <a:endParaRPr lang="en-US" sz="1260" dirty="0"/>
          </a:p>
        </p:txBody>
      </p:sp>
      <p:sp>
        <p:nvSpPr>
          <p:cNvPr id="39" name="ps:s4-search-evidence:cell-text:2:1:0"/>
          <p:cNvSpPr/>
          <p:nvPr/>
        </p:nvSpPr>
        <p:spPr>
          <a:xfrm>
            <a:off x="2343150" y="4200525"/>
            <a:ext cx="25336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says AI features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query growth.</a:t>
            </a:r>
            <a:endParaRPr lang="en-US" sz="1260" dirty="0"/>
          </a:p>
        </p:txBody>
      </p:sp>
      <p:sp>
        <p:nvSpPr>
          <p:cNvPr id="40" name="ps:s4-search-evidence-cell-2-2:arrow:0"/>
          <p:cNvSpPr/>
          <p:nvPr/>
        </p:nvSpPr>
        <p:spPr>
          <a:xfrm>
            <a:off x="5180648" y="4357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ps:s4-search-evidence-cell-2-2:arrow:1"/>
          <p:cNvSpPr/>
          <p:nvPr/>
        </p:nvSpPr>
        <p:spPr>
          <a:xfrm>
            <a:off x="5269802" y="4419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ps:s4-search-evidence-cell-2-2:arrow:2"/>
          <p:cNvSpPr/>
          <p:nvPr/>
        </p:nvSpPr>
        <p:spPr>
          <a:xfrm flipH="1">
            <a:off x="5269802" y="4471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3" name="ps:s4-search-evidence:cell-text:2:3:0"/>
          <p:cNvSpPr/>
          <p:nvPr/>
        </p:nvSpPr>
        <p:spPr>
          <a:xfrm>
            <a:off x="5713095" y="4200525"/>
            <a:ext cx="236791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may expand usage rather than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 displace it.</a:t>
            </a:r>
            <a:endParaRPr lang="en-US" sz="1260" dirty="0"/>
          </a:p>
        </p:txBody>
      </p:sp>
      <p:sp>
        <p:nvSpPr>
          <p:cNvPr id="44" name="ps:s4-search-evidence:cell-text:2:4:0"/>
          <p:cNvSpPr/>
          <p:nvPr/>
        </p:nvSpPr>
        <p:spPr>
          <a:xfrm>
            <a:off x="8309610" y="4200525"/>
            <a:ext cx="31965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costs and incremental monetized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must be shown before assuming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accretion.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5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reached 35.6% margin, but its 82% growth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changing revenue mix</a:t>
            </a:r>
            <a:endParaRPr lang="en-US" sz="2700" dirty="0"/>
          </a:p>
        </p:txBody>
      </p:sp>
      <p:sp>
        <p:nvSpPr>
          <p:cNvPr id="3" name="ps:s5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" dirty="0"/>
          </a:p>
        </p:txBody>
      </p:sp>
      <p:sp>
        <p:nvSpPr>
          <p:cNvPr id="4" name="ps:s5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 Selected comparison periods; Q1 2026 YoY revenue growth was 63.4%.</a:t>
            </a:r>
            <a:endParaRPr lang="en-US" sz="720" dirty="0"/>
          </a:p>
        </p:txBody>
      </p:sp>
      <p:sp>
        <p:nvSpPr>
          <p:cNvPr id="5" name="ps:s5-s5-deduction:surface"/>
          <p:cNvSpPr/>
          <p:nvPr/>
        </p:nvSpPr>
        <p:spPr>
          <a:xfrm>
            <a:off x="571500" y="56959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5-s5-deduction:body"/>
          <p:cNvSpPr/>
          <p:nvPr/>
        </p:nvSpPr>
        <p:spPr>
          <a:xfrm>
            <a:off x="800100" y="584835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Cloud acceleration cannot yet establish the return on recurring services capacity, so the investment case needs evidence that separates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economics from product sales and acquired revenue.</a:t>
            </a:r>
            <a:endParaRPr lang="en-US" sz="1260" dirty="0"/>
          </a:p>
        </p:txBody>
      </p:sp>
      <p:sp>
        <p:nvSpPr>
          <p:cNvPr id="7" name="ps:s5-s5-related-boundary:separator"/>
          <p:cNvSpPr/>
          <p:nvPr/>
        </p:nvSpPr>
        <p:spPr>
          <a:xfrm>
            <a:off x="7848600" y="1771650"/>
            <a:ext cx="0" cy="377190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8" name="ps:s5-cloud-revenue-heading:heading"/>
          <p:cNvSpPr/>
          <p:nvPr/>
        </p:nvSpPr>
        <p:spPr>
          <a:xfrm>
            <a:off x="571500" y="1771650"/>
            <a:ext cx="1323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revenue,</a:t>
            </a:r>
            <a:endParaRPr lang="en-US" sz="1440" dirty="0"/>
          </a:p>
        </p:txBody>
      </p:sp>
      <p:sp>
        <p:nvSpPr>
          <p:cNvPr id="9" name="ps:s5-cloud-revenue-heading:unit"/>
          <p:cNvSpPr/>
          <p:nvPr/>
        </p:nvSpPr>
        <p:spPr>
          <a:xfrm>
            <a:off x="1895475" y="1771650"/>
            <a:ext cx="2105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10" name="ps:s5-cloud-revenue-heading:rule"/>
          <p:cNvSpPr/>
          <p:nvPr/>
        </p:nvSpPr>
        <p:spPr>
          <a:xfrm>
            <a:off x="571500" y="2057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ps:s5-cloud-revenue:x-axis"/>
          <p:cNvSpPr/>
          <p:nvPr/>
        </p:nvSpPr>
        <p:spPr>
          <a:xfrm>
            <a:off x="1085850" y="4895850"/>
            <a:ext cx="2400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2" name="ps:s5-cloud-revenue:series:revenue:q2-2025"/>
          <p:cNvSpPr/>
          <p:nvPr/>
        </p:nvSpPr>
        <p:spPr>
          <a:xfrm>
            <a:off x="1205865" y="4143192"/>
            <a:ext cx="521970" cy="752658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13" name="ps:s5-cloud-revenue:value-label:revenue:q2-2025"/>
          <p:cNvSpPr/>
          <p:nvPr/>
        </p:nvSpPr>
        <p:spPr>
          <a:xfrm>
            <a:off x="1110615" y="3895542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</a:t>
            </a:r>
            <a:endParaRPr lang="en-US" sz="1260" dirty="0"/>
          </a:p>
        </p:txBody>
      </p:sp>
      <p:sp>
        <p:nvSpPr>
          <p:cNvPr id="14" name="ps:s5-cloud-revenue:category:q2-2025"/>
          <p:cNvSpPr/>
          <p:nvPr/>
        </p:nvSpPr>
        <p:spPr>
          <a:xfrm>
            <a:off x="11296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60" dirty="0"/>
          </a:p>
        </p:txBody>
      </p:sp>
      <p:sp>
        <p:nvSpPr>
          <p:cNvPr id="15" name="ps:s5-cloud-revenue:series:revenue:q1-2026"/>
          <p:cNvSpPr/>
          <p:nvPr/>
        </p:nvSpPr>
        <p:spPr>
          <a:xfrm>
            <a:off x="2005965" y="3789403"/>
            <a:ext cx="521970" cy="1106447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16" name="ps:s5-cloud-revenue:value-label:revenue:q1-2026"/>
          <p:cNvSpPr/>
          <p:nvPr/>
        </p:nvSpPr>
        <p:spPr>
          <a:xfrm>
            <a:off x="1910715" y="3541753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1260" dirty="0"/>
          </a:p>
        </p:txBody>
      </p:sp>
      <p:sp>
        <p:nvSpPr>
          <p:cNvPr id="17" name="ps:s5-cloud-revenue:category:q1-2026"/>
          <p:cNvSpPr/>
          <p:nvPr/>
        </p:nvSpPr>
        <p:spPr>
          <a:xfrm>
            <a:off x="19297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260" dirty="0"/>
          </a:p>
        </p:txBody>
      </p:sp>
      <p:sp>
        <p:nvSpPr>
          <p:cNvPr id="18" name="ps:s5-cloud-revenue:series:revenue:q2-2026"/>
          <p:cNvSpPr/>
          <p:nvPr/>
        </p:nvSpPr>
        <p:spPr>
          <a:xfrm>
            <a:off x="2806065" y="3527542"/>
            <a:ext cx="521970" cy="13683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ps:s5-cloud-revenue:value-label:revenue:q2-2026"/>
          <p:cNvSpPr/>
          <p:nvPr/>
        </p:nvSpPr>
        <p:spPr>
          <a:xfrm>
            <a:off x="2710815" y="3279892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</a:t>
            </a:r>
            <a:endParaRPr lang="en-US" sz="1260" dirty="0"/>
          </a:p>
        </p:txBody>
      </p:sp>
      <p:sp>
        <p:nvSpPr>
          <p:cNvPr id="20" name="ps:s5-cloud-revenue:category:q2-2026"/>
          <p:cNvSpPr/>
          <p:nvPr/>
        </p:nvSpPr>
        <p:spPr>
          <a:xfrm>
            <a:off x="27298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21" name="ps:s5-cloud-revenue:change:0:span"/>
          <p:cNvSpPr/>
          <p:nvPr/>
        </p:nvSpPr>
        <p:spPr>
          <a:xfrm>
            <a:off x="1485900" y="2914650"/>
            <a:ext cx="16002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2" name="ps:s5-cloud-revenue:change:0:start-drop"/>
          <p:cNvSpPr/>
          <p:nvPr/>
        </p:nvSpPr>
        <p:spPr>
          <a:xfrm>
            <a:off x="1485900" y="2914650"/>
            <a:ext cx="0" cy="866592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5-cloud-revenue:change:0:end-drop"/>
          <p:cNvSpPr/>
          <p:nvPr/>
        </p:nvSpPr>
        <p:spPr>
          <a:xfrm>
            <a:off x="3086100" y="2914650"/>
            <a:ext cx="0" cy="250942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5-cloud-revenue:change-label-surface:0"/>
          <p:cNvSpPr/>
          <p:nvPr/>
        </p:nvSpPr>
        <p:spPr>
          <a:xfrm>
            <a:off x="1895475" y="2524125"/>
            <a:ext cx="781050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ps:s5-cloud-revenue:change-label:0"/>
          <p:cNvSpPr/>
          <p:nvPr/>
        </p:nvSpPr>
        <p:spPr>
          <a:xfrm>
            <a:off x="1990725" y="2562225"/>
            <a:ext cx="590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+81.8%</a:t>
            </a:r>
            <a:endParaRPr lang="en-US" sz="1260" dirty="0"/>
          </a:p>
        </p:txBody>
      </p:sp>
      <p:sp>
        <p:nvSpPr>
          <p:cNvPr id="26" name="ps:s5-cloud-margin-heading:heading"/>
          <p:cNvSpPr/>
          <p:nvPr/>
        </p:nvSpPr>
        <p:spPr>
          <a:xfrm>
            <a:off x="4152900" y="1771650"/>
            <a:ext cx="2114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operating margin,</a:t>
            </a:r>
            <a:endParaRPr lang="en-US" sz="1440" dirty="0"/>
          </a:p>
        </p:txBody>
      </p:sp>
      <p:sp>
        <p:nvSpPr>
          <p:cNvPr id="27" name="ps:s5-cloud-margin-heading:unit"/>
          <p:cNvSpPr/>
          <p:nvPr/>
        </p:nvSpPr>
        <p:spPr>
          <a:xfrm>
            <a:off x="6267450" y="1771650"/>
            <a:ext cx="13144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</a:t>
            </a:r>
            <a:endParaRPr lang="en-US" sz="1440" dirty="0"/>
          </a:p>
        </p:txBody>
      </p:sp>
      <p:sp>
        <p:nvSpPr>
          <p:cNvPr id="28" name="ps:s5-cloud-margin-heading:rule"/>
          <p:cNvSpPr/>
          <p:nvPr/>
        </p:nvSpPr>
        <p:spPr>
          <a:xfrm>
            <a:off x="4152900" y="2057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9" name="ps:s5-cloud-margin:x-axis"/>
          <p:cNvSpPr/>
          <p:nvPr/>
        </p:nvSpPr>
        <p:spPr>
          <a:xfrm>
            <a:off x="4667250" y="4895850"/>
            <a:ext cx="2400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ps:s5-cloud-margin:series:margin:q2-2025"/>
          <p:cNvSpPr/>
          <p:nvPr/>
        </p:nvSpPr>
        <p:spPr>
          <a:xfrm>
            <a:off x="4787265" y="4077324"/>
            <a:ext cx="521970" cy="818526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1" name="ps:s5-cloud-margin:value-label:margin:q2-2025"/>
          <p:cNvSpPr/>
          <p:nvPr/>
        </p:nvSpPr>
        <p:spPr>
          <a:xfrm>
            <a:off x="4692015" y="3829674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260" dirty="0"/>
          </a:p>
        </p:txBody>
      </p:sp>
      <p:sp>
        <p:nvSpPr>
          <p:cNvPr id="32" name="ps:s5-cloud-margin:category:q2-2025"/>
          <p:cNvSpPr/>
          <p:nvPr/>
        </p:nvSpPr>
        <p:spPr>
          <a:xfrm>
            <a:off x="47110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60" dirty="0"/>
          </a:p>
        </p:txBody>
      </p:sp>
      <p:sp>
        <p:nvSpPr>
          <p:cNvPr id="33" name="ps:s5-cloud-margin:series:margin:q1-2026"/>
          <p:cNvSpPr/>
          <p:nvPr/>
        </p:nvSpPr>
        <p:spPr>
          <a:xfrm>
            <a:off x="5587365" y="3595861"/>
            <a:ext cx="521970" cy="1299989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4" name="ps:s5-cloud-margin:value-label:margin:q1-2026"/>
          <p:cNvSpPr/>
          <p:nvPr/>
        </p:nvSpPr>
        <p:spPr>
          <a:xfrm>
            <a:off x="5492115" y="3348211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32.9%</a:t>
            </a:r>
            <a:endParaRPr lang="en-US" sz="1260" dirty="0"/>
          </a:p>
        </p:txBody>
      </p:sp>
      <p:sp>
        <p:nvSpPr>
          <p:cNvPr id="35" name="ps:s5-cloud-margin:category:q1-2026"/>
          <p:cNvSpPr/>
          <p:nvPr/>
        </p:nvSpPr>
        <p:spPr>
          <a:xfrm>
            <a:off x="55111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260" dirty="0"/>
          </a:p>
        </p:txBody>
      </p:sp>
      <p:sp>
        <p:nvSpPr>
          <p:cNvPr id="36" name="ps:s5-cloud-margin:series:margin:q2-2026"/>
          <p:cNvSpPr/>
          <p:nvPr/>
        </p:nvSpPr>
        <p:spPr>
          <a:xfrm>
            <a:off x="6387465" y="3491592"/>
            <a:ext cx="521970" cy="14042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s:s5-cloud-margin:value-label:margin:q2-2026"/>
          <p:cNvSpPr/>
          <p:nvPr/>
        </p:nvSpPr>
        <p:spPr>
          <a:xfrm>
            <a:off x="6292215" y="3243942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35.6%</a:t>
            </a:r>
            <a:endParaRPr lang="en-US" sz="1260" dirty="0"/>
          </a:p>
        </p:txBody>
      </p:sp>
      <p:sp>
        <p:nvSpPr>
          <p:cNvPr id="38" name="ps:s5-cloud-margin:category:q2-2026"/>
          <p:cNvSpPr/>
          <p:nvPr/>
        </p:nvSpPr>
        <p:spPr>
          <a:xfrm>
            <a:off x="63112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39" name="ps:s5-cloud-margin:change:0:span"/>
          <p:cNvSpPr/>
          <p:nvPr/>
        </p:nvSpPr>
        <p:spPr>
          <a:xfrm>
            <a:off x="5067300" y="2914650"/>
            <a:ext cx="16002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0" name="ps:s5-cloud-margin:change:0:start-drop"/>
          <p:cNvSpPr/>
          <p:nvPr/>
        </p:nvSpPr>
        <p:spPr>
          <a:xfrm>
            <a:off x="5067300" y="2914650"/>
            <a:ext cx="0" cy="800724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5-cloud-margin:change:0:end-drop"/>
          <p:cNvSpPr/>
          <p:nvPr/>
        </p:nvSpPr>
        <p:spPr>
          <a:xfrm>
            <a:off x="6667500" y="2914650"/>
            <a:ext cx="0" cy="214992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2" name="ps:s5-cloud-margin:change-label-surface:0"/>
          <p:cNvSpPr/>
          <p:nvPr/>
        </p:nvSpPr>
        <p:spPr>
          <a:xfrm>
            <a:off x="5405437" y="2524125"/>
            <a:ext cx="923925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ps:s5-cloud-margin:change-label:0"/>
          <p:cNvSpPr/>
          <p:nvPr/>
        </p:nvSpPr>
        <p:spPr>
          <a:xfrm>
            <a:off x="5500688" y="2562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+14.85pp</a:t>
            </a:r>
            <a:endParaRPr lang="en-US" sz="1260" dirty="0"/>
          </a:p>
        </p:txBody>
      </p:sp>
      <p:sp>
        <p:nvSpPr>
          <p:cNvPr id="44" name="ps:s5-s5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and recognition limit extrapolation</a:t>
            </a:r>
            <a:endParaRPr lang="en-US" sz="1440" dirty="0"/>
          </a:p>
        </p:txBody>
      </p:sp>
      <p:sp>
        <p:nvSpPr>
          <p:cNvPr id="45" name="ps:s5-s5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6" name="ps:s5-s5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ps:s5-s5-additional-context-points:item:0"/>
          <p:cNvSpPr/>
          <p:nvPr/>
        </p:nvSpPr>
        <p:spPr>
          <a:xfrm>
            <a:off x="8267700" y="245745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of $513.9bn supports demand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visibility, but recognition depends on delivery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customer usage.</a:t>
            </a:r>
            <a:endParaRPr lang="en-US" sz="1260" dirty="0"/>
          </a:p>
        </p:txBody>
      </p:sp>
      <p:sp>
        <p:nvSpPr>
          <p:cNvPr id="48" name="ps:s5-s5-additional-context-points:marker:1"/>
          <p:cNvSpPr/>
          <p:nvPr/>
        </p:nvSpPr>
        <p:spPr>
          <a:xfrm>
            <a:off x="8115300" y="314801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ps:s5-s5-additional-context-points:item:1"/>
          <p:cNvSpPr/>
          <p:nvPr/>
        </p:nvSpPr>
        <p:spPr>
          <a:xfrm>
            <a:off x="8267700" y="3076575"/>
            <a:ext cx="33528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introduces TPU product revenue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full quarter of Wiz; their separate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and margin contributions are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unavailable.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6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profit gains outweighed $3.0 billion of additional central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Other Bets losses</a:t>
            </a:r>
            <a:endParaRPr lang="en-US" sz="2700" dirty="0"/>
          </a:p>
        </p:txBody>
      </p:sp>
      <p:sp>
        <p:nvSpPr>
          <p:cNvPr id="3" name="ps:s6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20" dirty="0"/>
          </a:p>
        </p:txBody>
      </p:sp>
      <p:sp>
        <p:nvSpPr>
          <p:cNvPr id="4" name="ps:s6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2026, pp 1–2; analyst calculations.</a:t>
            </a:r>
            <a:endParaRPr lang="en-US" sz="720" dirty="0"/>
          </a:p>
        </p:txBody>
      </p:sp>
      <p:sp>
        <p:nvSpPr>
          <p:cNvPr id="5" name="ps:s6-s6-deduction:surface"/>
          <p:cNvSpPr/>
          <p:nvPr/>
        </p:nvSpPr>
        <p:spPr>
          <a:xfrm>
            <a:off x="571500" y="5876925"/>
            <a:ext cx="11049000" cy="485775"/>
          </a:xfrm>
          <a:prstGeom prst="roundRect">
            <a:avLst>
              <a:gd name="adj" fmla="val 7843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6-s6-deduction:body"/>
          <p:cNvSpPr/>
          <p:nvPr/>
        </p:nvSpPr>
        <p:spPr>
          <a:xfrm>
            <a:off x="800100" y="6029325"/>
            <a:ext cx="10591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Extrapolating segment margins would overstate group returns unless the expanding shared AI cost base is carried alongside the revenue upside.</a:t>
            </a:r>
            <a:endParaRPr lang="en-US" sz="1260" dirty="0"/>
          </a:p>
        </p:txBody>
      </p:sp>
      <p:sp>
        <p:nvSpPr>
          <p:cNvPr id="7" name="ps:s6-operating-profit-bridge-heading:heading"/>
          <p:cNvSpPr/>
          <p:nvPr/>
        </p:nvSpPr>
        <p:spPr>
          <a:xfrm>
            <a:off x="571500" y="1771650"/>
            <a:ext cx="2486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operating income bridge,</a:t>
            </a:r>
            <a:endParaRPr lang="en-US" sz="1440" dirty="0"/>
          </a:p>
        </p:txBody>
      </p:sp>
      <p:sp>
        <p:nvSpPr>
          <p:cNvPr id="8" name="ps:s6-operating-profit-bridge-heading:unit"/>
          <p:cNvSpPr/>
          <p:nvPr/>
        </p:nvSpPr>
        <p:spPr>
          <a:xfrm>
            <a:off x="3057525" y="1771650"/>
            <a:ext cx="45243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9" name="ps:s6-operating-profit-bridge-heading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ps:s6-operating-profit-bridge:x-axis"/>
          <p:cNvSpPr/>
          <p:nvPr/>
        </p:nvSpPr>
        <p:spPr>
          <a:xfrm>
            <a:off x="1085850" y="5076825"/>
            <a:ext cx="5981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ps:s6-operating-profit-bridge:bar:q2-2025"/>
          <p:cNvSpPr/>
          <p:nvPr/>
        </p:nvSpPr>
        <p:spPr>
          <a:xfrm>
            <a:off x="1285239" y="3283213"/>
            <a:ext cx="598170" cy="17936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ps:s6-operating-profit-bridge:value-label:q2-2025"/>
          <p:cNvSpPr/>
          <p:nvPr/>
        </p:nvSpPr>
        <p:spPr>
          <a:xfrm>
            <a:off x="1189990" y="3035562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</a:t>
            </a:r>
            <a:endParaRPr lang="en-US" sz="1260" dirty="0"/>
          </a:p>
        </p:txBody>
      </p:sp>
      <p:sp>
        <p:nvSpPr>
          <p:cNvPr id="13" name="ps:s6-operating-profit-bridge:category:q2-2025"/>
          <p:cNvSpPr/>
          <p:nvPr/>
        </p:nvSpPr>
        <p:spPr>
          <a:xfrm>
            <a:off x="108585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60" dirty="0"/>
          </a:p>
        </p:txBody>
      </p:sp>
      <p:sp>
        <p:nvSpPr>
          <p:cNvPr id="14" name="ps:s6-operating-profit-bridge:bar:services"/>
          <p:cNvSpPr/>
          <p:nvPr/>
        </p:nvSpPr>
        <p:spPr>
          <a:xfrm>
            <a:off x="2282190" y="2911481"/>
            <a:ext cx="598170" cy="371731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ps:s6-operating-profit-bridge:value-label:services"/>
          <p:cNvSpPr/>
          <p:nvPr/>
        </p:nvSpPr>
        <p:spPr>
          <a:xfrm>
            <a:off x="2186940" y="2663831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+6.5</a:t>
            </a:r>
            <a:endParaRPr lang="en-US" sz="1260" dirty="0"/>
          </a:p>
        </p:txBody>
      </p:sp>
      <p:sp>
        <p:nvSpPr>
          <p:cNvPr id="16" name="ps:s6-operating-profit-bridge:connector:1"/>
          <p:cNvSpPr/>
          <p:nvPr/>
        </p:nvSpPr>
        <p:spPr>
          <a:xfrm>
            <a:off x="1883410" y="3283213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7" name="ps:s6-operating-profit-bridge:category:services"/>
          <p:cNvSpPr/>
          <p:nvPr/>
        </p:nvSpPr>
        <p:spPr>
          <a:xfrm>
            <a:off x="208280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60" dirty="0"/>
          </a:p>
        </p:txBody>
      </p:sp>
      <p:sp>
        <p:nvSpPr>
          <p:cNvPr id="18" name="ps:s6-operating-profit-bridge:bar:cloud"/>
          <p:cNvSpPr/>
          <p:nvPr/>
        </p:nvSpPr>
        <p:spPr>
          <a:xfrm>
            <a:off x="3279140" y="2568027"/>
            <a:ext cx="598170" cy="34345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ps:s6-operating-profit-bridge:value-label:cloud"/>
          <p:cNvSpPr/>
          <p:nvPr/>
        </p:nvSpPr>
        <p:spPr>
          <a:xfrm>
            <a:off x="3183891" y="2320377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+6.0</a:t>
            </a:r>
            <a:endParaRPr lang="en-US" sz="1260" dirty="0"/>
          </a:p>
        </p:txBody>
      </p:sp>
      <p:sp>
        <p:nvSpPr>
          <p:cNvPr id="20" name="ps:s6-operating-profit-bridge:connector:2"/>
          <p:cNvSpPr/>
          <p:nvPr/>
        </p:nvSpPr>
        <p:spPr>
          <a:xfrm>
            <a:off x="2880360" y="2911481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6-operating-profit-bridge:category:cloud"/>
          <p:cNvSpPr/>
          <p:nvPr/>
        </p:nvSpPr>
        <p:spPr>
          <a:xfrm>
            <a:off x="3079749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60" dirty="0"/>
          </a:p>
        </p:txBody>
      </p:sp>
      <p:sp>
        <p:nvSpPr>
          <p:cNvPr id="22" name="ps:s6-operating-profit-bridge:bar:other-bets"/>
          <p:cNvSpPr/>
          <p:nvPr/>
        </p:nvSpPr>
        <p:spPr>
          <a:xfrm>
            <a:off x="4276090" y="2568027"/>
            <a:ext cx="598170" cy="31719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3" name="ps:s6-operating-profit-bridge:value-label:other-bets"/>
          <p:cNvSpPr/>
          <p:nvPr/>
        </p:nvSpPr>
        <p:spPr>
          <a:xfrm>
            <a:off x="4180840" y="2320377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-0.6</a:t>
            </a:r>
            <a:endParaRPr lang="en-US" sz="1260" dirty="0"/>
          </a:p>
        </p:txBody>
      </p:sp>
      <p:sp>
        <p:nvSpPr>
          <p:cNvPr id="24" name="ps:s6-operating-profit-bridge:connector:3"/>
          <p:cNvSpPr/>
          <p:nvPr/>
        </p:nvSpPr>
        <p:spPr>
          <a:xfrm>
            <a:off x="3877310" y="2568027"/>
            <a:ext cx="39877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5" name="ps:s6-operating-profit-bridge:category:other-bets"/>
          <p:cNvSpPr/>
          <p:nvPr/>
        </p:nvSpPr>
        <p:spPr>
          <a:xfrm>
            <a:off x="407670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Bets</a:t>
            </a:r>
            <a:endParaRPr lang="en-US" sz="1260" dirty="0"/>
          </a:p>
        </p:txBody>
      </p:sp>
      <p:sp>
        <p:nvSpPr>
          <p:cNvPr id="26" name="ps:s6-operating-profit-bridge:bar:central"/>
          <p:cNvSpPr/>
          <p:nvPr/>
        </p:nvSpPr>
        <p:spPr>
          <a:xfrm>
            <a:off x="5273040" y="2599746"/>
            <a:ext cx="598170" cy="138631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7" name="ps:s6-operating-profit-bridge:value-label:central"/>
          <p:cNvSpPr/>
          <p:nvPr/>
        </p:nvSpPr>
        <p:spPr>
          <a:xfrm>
            <a:off x="5177790" y="2352096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-2.4</a:t>
            </a:r>
            <a:endParaRPr lang="en-US" sz="1260" dirty="0"/>
          </a:p>
        </p:txBody>
      </p:sp>
      <p:sp>
        <p:nvSpPr>
          <p:cNvPr id="28" name="ps:s6-operating-profit-bridge:connector:4"/>
          <p:cNvSpPr/>
          <p:nvPr/>
        </p:nvSpPr>
        <p:spPr>
          <a:xfrm>
            <a:off x="4874259" y="2599746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9" name="ps:s6-operating-profit-bridge:category:central"/>
          <p:cNvSpPr/>
          <p:nvPr/>
        </p:nvSpPr>
        <p:spPr>
          <a:xfrm>
            <a:off x="507365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1260" dirty="0"/>
          </a:p>
        </p:txBody>
      </p:sp>
      <p:sp>
        <p:nvSpPr>
          <p:cNvPr id="30" name="ps:s6-operating-profit-bridge:bar:q2-2026"/>
          <p:cNvSpPr/>
          <p:nvPr/>
        </p:nvSpPr>
        <p:spPr>
          <a:xfrm>
            <a:off x="6269991" y="2738377"/>
            <a:ext cx="598170" cy="233844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ps:s6-operating-profit-bridge:value-label:q2-2026"/>
          <p:cNvSpPr/>
          <p:nvPr/>
        </p:nvSpPr>
        <p:spPr>
          <a:xfrm>
            <a:off x="6174740" y="2490728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</a:t>
            </a:r>
            <a:endParaRPr lang="en-US" sz="1260" dirty="0"/>
          </a:p>
        </p:txBody>
      </p:sp>
      <p:sp>
        <p:nvSpPr>
          <p:cNvPr id="32" name="ps:s6-operating-profit-bridge:connector:5"/>
          <p:cNvSpPr/>
          <p:nvPr/>
        </p:nvSpPr>
        <p:spPr>
          <a:xfrm>
            <a:off x="5871210" y="2738377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3" name="ps:s6-operating-profit-bridge:category:q2-2026"/>
          <p:cNvSpPr/>
          <p:nvPr/>
        </p:nvSpPr>
        <p:spPr>
          <a:xfrm>
            <a:off x="607060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34" name="ps:s6-s6-related-boundary:separator"/>
          <p:cNvSpPr/>
          <p:nvPr/>
        </p:nvSpPr>
        <p:spPr>
          <a:xfrm>
            <a:off x="7848600" y="1771650"/>
            <a:ext cx="0" cy="39528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35" name="ps:s6-s6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AI costs stay in the model</a:t>
            </a:r>
            <a:endParaRPr lang="en-US" sz="1440" dirty="0"/>
          </a:p>
        </p:txBody>
      </p:sp>
      <p:sp>
        <p:nvSpPr>
          <p:cNvPr id="36" name="ps:s6-s6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7" name="ps:s6-s6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ps:s6-s6-additional-context-points:item:0"/>
          <p:cNvSpPr/>
          <p:nvPr/>
        </p:nvSpPr>
        <p:spPr>
          <a:xfrm>
            <a:off x="8267700" y="2457450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activities at Alphabet level mainly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shared AI research and development.</a:t>
            </a:r>
            <a:endParaRPr lang="en-US" sz="1260" dirty="0"/>
          </a:p>
        </p:txBody>
      </p:sp>
      <p:sp>
        <p:nvSpPr>
          <p:cNvPr id="39" name="ps:s6-s6-additional-context-points:marker:1"/>
          <p:cNvSpPr/>
          <p:nvPr/>
        </p:nvSpPr>
        <p:spPr>
          <a:xfrm>
            <a:off x="8115300" y="29670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ps:s6-s6-additional-context-points:item:1"/>
          <p:cNvSpPr/>
          <p:nvPr/>
        </p:nvSpPr>
        <p:spPr>
          <a:xfrm>
            <a:off x="8267700" y="289560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scenarios retain these costs and grow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 from the Q2 run rate; future depreciation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also included.</a:t>
            </a:r>
            <a:endParaRPr lang="en-US" sz="12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7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equity gains cuts Q2 EPS from $9.11 to $2.85 before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normalization</a:t>
            </a:r>
            <a:endParaRPr lang="en-US" sz="2700" dirty="0"/>
          </a:p>
        </p:txBody>
      </p:sp>
      <p:sp>
        <p:nvSpPr>
          <p:cNvPr id="3" name="ps:s7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20" dirty="0"/>
          </a:p>
        </p:txBody>
      </p:sp>
      <p:sp>
        <p:nvSpPr>
          <p:cNvPr id="4" name="ps:s7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7-s7-deduction:surface"/>
          <p:cNvSpPr/>
          <p:nvPr/>
        </p:nvSpPr>
        <p:spPr>
          <a:xfrm>
            <a:off x="571500" y="5876925"/>
            <a:ext cx="11049000" cy="485775"/>
          </a:xfrm>
          <a:prstGeom prst="roundRect">
            <a:avLst>
              <a:gd name="adj" fmla="val 7843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7-s7-deduction:body"/>
          <p:cNvSpPr/>
          <p:nvPr/>
        </p:nvSpPr>
        <p:spPr>
          <a:xfrm>
            <a:off x="800100" y="6029325"/>
            <a:ext cx="10591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Valuing the operating earnings stream separately from the investment portfolio avoids treating a market revaluation as recurring business profit.</a:t>
            </a:r>
            <a:endParaRPr lang="en-US" sz="1260" dirty="0"/>
          </a:p>
        </p:txBody>
      </p:sp>
      <p:sp>
        <p:nvSpPr>
          <p:cNvPr id="7" name="ps:s7-eps-bridge-heading:heading"/>
          <p:cNvSpPr/>
          <p:nvPr/>
        </p:nvSpPr>
        <p:spPr>
          <a:xfrm>
            <a:off x="571500" y="1771650"/>
            <a:ext cx="1323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EPS bridge,</a:t>
            </a:r>
            <a:endParaRPr lang="en-US" sz="1440" dirty="0"/>
          </a:p>
        </p:txBody>
      </p:sp>
      <p:sp>
        <p:nvSpPr>
          <p:cNvPr id="8" name="ps:s7-eps-bridge-heading:unit"/>
          <p:cNvSpPr/>
          <p:nvPr/>
        </p:nvSpPr>
        <p:spPr>
          <a:xfrm>
            <a:off x="1895475" y="1771650"/>
            <a:ext cx="56864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per diluted share</a:t>
            </a:r>
            <a:endParaRPr lang="en-US" sz="1440" dirty="0"/>
          </a:p>
        </p:txBody>
      </p:sp>
      <p:sp>
        <p:nvSpPr>
          <p:cNvPr id="9" name="ps:s7-eps-bridge-heading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ps:s7-eps-bridge:x-axis"/>
          <p:cNvSpPr/>
          <p:nvPr/>
        </p:nvSpPr>
        <p:spPr>
          <a:xfrm>
            <a:off x="1085850" y="5076825"/>
            <a:ext cx="5981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ps:s7-eps-bridge:bar:reported-eps"/>
          <p:cNvSpPr/>
          <p:nvPr/>
        </p:nvSpPr>
        <p:spPr>
          <a:xfrm>
            <a:off x="1484630" y="3402111"/>
            <a:ext cx="1196340" cy="167471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ps:s7-eps-bridge:value-label:reported-eps"/>
          <p:cNvSpPr/>
          <p:nvPr/>
        </p:nvSpPr>
        <p:spPr>
          <a:xfrm>
            <a:off x="1389381" y="3154461"/>
            <a:ext cx="138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</a:t>
            </a:r>
            <a:endParaRPr lang="en-US" sz="1260" dirty="0"/>
          </a:p>
        </p:txBody>
      </p:sp>
      <p:sp>
        <p:nvSpPr>
          <p:cNvPr id="13" name="ps:s7-eps-bridge:category:reported-eps"/>
          <p:cNvSpPr/>
          <p:nvPr/>
        </p:nvSpPr>
        <p:spPr>
          <a:xfrm>
            <a:off x="1085850" y="5153025"/>
            <a:ext cx="1993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EPS</a:t>
            </a:r>
            <a:endParaRPr lang="en-US" sz="1260" dirty="0"/>
          </a:p>
        </p:txBody>
      </p:sp>
      <p:sp>
        <p:nvSpPr>
          <p:cNvPr id="14" name="ps:s7-eps-bridge:bar:equity-gain-effect"/>
          <p:cNvSpPr/>
          <p:nvPr/>
        </p:nvSpPr>
        <p:spPr>
          <a:xfrm>
            <a:off x="3478530" y="3402111"/>
            <a:ext cx="1196340" cy="1150792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5" name="ps:s7-eps-bridge:value-label:equity-gain-effect"/>
          <p:cNvSpPr/>
          <p:nvPr/>
        </p:nvSpPr>
        <p:spPr>
          <a:xfrm>
            <a:off x="3383280" y="3154461"/>
            <a:ext cx="138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-6.26</a:t>
            </a:r>
            <a:endParaRPr lang="en-US" sz="1260" dirty="0"/>
          </a:p>
        </p:txBody>
      </p:sp>
      <p:sp>
        <p:nvSpPr>
          <p:cNvPr id="16" name="ps:s7-eps-bridge:connector:1"/>
          <p:cNvSpPr/>
          <p:nvPr/>
        </p:nvSpPr>
        <p:spPr>
          <a:xfrm>
            <a:off x="2680971" y="3402111"/>
            <a:ext cx="797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7" name="ps:s7-eps-bridge:category:equity-gain-effect"/>
          <p:cNvSpPr/>
          <p:nvPr/>
        </p:nvSpPr>
        <p:spPr>
          <a:xfrm>
            <a:off x="3079749" y="5153025"/>
            <a:ext cx="1993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Equity-gain effect</a:t>
            </a:r>
            <a:endParaRPr lang="en-US" sz="1260" dirty="0"/>
          </a:p>
        </p:txBody>
      </p:sp>
      <p:sp>
        <p:nvSpPr>
          <p:cNvPr id="18" name="ps:s7-eps-bridge:bar:gain-stripped"/>
          <p:cNvSpPr/>
          <p:nvPr/>
        </p:nvSpPr>
        <p:spPr>
          <a:xfrm>
            <a:off x="5472430" y="4552903"/>
            <a:ext cx="1196340" cy="52392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ps:s7-eps-bridge:value-label:gain-stripped"/>
          <p:cNvSpPr/>
          <p:nvPr/>
        </p:nvSpPr>
        <p:spPr>
          <a:xfrm>
            <a:off x="5377179" y="4305252"/>
            <a:ext cx="138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</a:t>
            </a:r>
            <a:endParaRPr lang="en-US" sz="1260" dirty="0"/>
          </a:p>
        </p:txBody>
      </p:sp>
      <p:sp>
        <p:nvSpPr>
          <p:cNvPr id="20" name="ps:s7-eps-bridge:connector:2"/>
          <p:cNvSpPr/>
          <p:nvPr/>
        </p:nvSpPr>
        <p:spPr>
          <a:xfrm>
            <a:off x="4674870" y="4552903"/>
            <a:ext cx="797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7-eps-bridge:category:gain-stripped"/>
          <p:cNvSpPr/>
          <p:nvPr/>
        </p:nvSpPr>
        <p:spPr>
          <a:xfrm>
            <a:off x="5073650" y="5153025"/>
            <a:ext cx="1993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Gain-stripped</a:t>
            </a:r>
            <a:endParaRPr lang="en-US" sz="1260" dirty="0"/>
          </a:p>
        </p:txBody>
      </p:sp>
      <p:sp>
        <p:nvSpPr>
          <p:cNvPr id="22" name="ps:s7-eps-bridge:change:0:span"/>
          <p:cNvSpPr/>
          <p:nvPr/>
        </p:nvSpPr>
        <p:spPr>
          <a:xfrm>
            <a:off x="2082800" y="2914650"/>
            <a:ext cx="3987799" cy="0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23" name="ps:s7-eps-bridge:change:0:start-drop"/>
          <p:cNvSpPr/>
          <p:nvPr/>
        </p:nvSpPr>
        <p:spPr>
          <a:xfrm>
            <a:off x="2082800" y="2914650"/>
            <a:ext cx="0" cy="125511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24" name="ps:s7-eps-bridge:change:0:end-drop"/>
          <p:cNvSpPr/>
          <p:nvPr/>
        </p:nvSpPr>
        <p:spPr>
          <a:xfrm>
            <a:off x="6070600" y="2914650"/>
            <a:ext cx="0" cy="1276302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  <a:tailEnd type="triangle"/>
          </a:ln>
        </p:spPr>
      </p:sp>
      <p:sp>
        <p:nvSpPr>
          <p:cNvPr id="25" name="ps:s7-eps-bridge:change-label-surface:0"/>
          <p:cNvSpPr/>
          <p:nvPr/>
        </p:nvSpPr>
        <p:spPr>
          <a:xfrm>
            <a:off x="3762375" y="2524125"/>
            <a:ext cx="628650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ps:s7-eps-bridge:change-label:0"/>
          <p:cNvSpPr/>
          <p:nvPr/>
        </p:nvSpPr>
        <p:spPr>
          <a:xfrm>
            <a:off x="3857625" y="2562225"/>
            <a:ext cx="438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-6.26</a:t>
            </a:r>
            <a:endParaRPr lang="en-US" sz="1260" dirty="0"/>
          </a:p>
        </p:txBody>
      </p:sp>
      <p:sp>
        <p:nvSpPr>
          <p:cNvPr id="27" name="ps:s7-s7-related-boundary:separator"/>
          <p:cNvSpPr/>
          <p:nvPr/>
        </p:nvSpPr>
        <p:spPr>
          <a:xfrm>
            <a:off x="7848600" y="1771650"/>
            <a:ext cx="0" cy="39528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28" name="ps:s7-s7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earnings scope</a:t>
            </a:r>
            <a:endParaRPr lang="en-US" sz="1440" dirty="0"/>
          </a:p>
        </p:txBody>
      </p:sp>
      <p:sp>
        <p:nvSpPr>
          <p:cNvPr id="29" name="ps:s7-s7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ps:s7-s7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ps:s7-s7-additional-context-points:item:0"/>
          <p:cNvSpPr/>
          <p:nvPr/>
        </p:nvSpPr>
        <p:spPr>
          <a:xfrm>
            <a:off x="8267700" y="245745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attributes $77.1bn of net income to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gains; the related assets enter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bridge once.</a:t>
            </a:r>
            <a:endParaRPr lang="en-US" sz="1260" dirty="0"/>
          </a:p>
        </p:txBody>
      </p:sp>
      <p:sp>
        <p:nvSpPr>
          <p:cNvPr id="32" name="ps:s7-s7-additional-context-points:marker:1"/>
          <p:cNvSpPr/>
          <p:nvPr/>
        </p:nvSpPr>
        <p:spPr>
          <a:xfrm>
            <a:off x="8115300" y="314801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3" name="ps:s7-s7-additional-context-points:item:1"/>
          <p:cNvSpPr/>
          <p:nvPr/>
        </p:nvSpPr>
        <p:spPr>
          <a:xfrm>
            <a:off x="8267700" y="3076575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$335.02 divided by four times gain-stripped Q2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gives a 29.4× run-rate P/E, not TTM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consensus.</a:t>
            </a:r>
            <a:endParaRPr lang="en-US" sz="1260" dirty="0"/>
          </a:p>
        </p:txBody>
      </p:sp>
      <p:sp>
        <p:nvSpPr>
          <p:cNvPr id="34" name="ps:s7-s7-additional-context-points:marker:2"/>
          <p:cNvSpPr/>
          <p:nvPr/>
        </p:nvSpPr>
        <p:spPr>
          <a:xfrm>
            <a:off x="8115300" y="37671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ps:s7-s7-additional-context-points:item:2"/>
          <p:cNvSpPr/>
          <p:nvPr/>
        </p:nvSpPr>
        <p:spPr>
          <a:xfrm>
            <a:off x="8267700" y="3695700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charges, financing costs, tax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business mix remain in this result.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8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H1's $174.8 billion net income produced only $4.3 billion of free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2700" dirty="0"/>
          </a:p>
        </p:txBody>
      </p:sp>
      <p:sp>
        <p:nvSpPr>
          <p:cNvPr id="3" name="ps:s8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20" dirty="0"/>
          </a:p>
        </p:txBody>
      </p:sp>
      <p:sp>
        <p:nvSpPr>
          <p:cNvPr id="4" name="ps:s8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 Other NC: remaining noncash adjustments.</a:t>
            </a:r>
            <a:endParaRPr lang="en-US" sz="720" dirty="0"/>
          </a:p>
        </p:txBody>
      </p:sp>
      <p:sp>
        <p:nvSpPr>
          <p:cNvPr id="5" name="ps:s8-earnings-to-cash-heading:heading"/>
          <p:cNvSpPr/>
          <p:nvPr/>
        </p:nvSpPr>
        <p:spPr>
          <a:xfrm>
            <a:off x="571500" y="1771650"/>
            <a:ext cx="3248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 net income to free cash flow,</a:t>
            </a:r>
            <a:endParaRPr lang="en-US" sz="1440" dirty="0"/>
          </a:p>
        </p:txBody>
      </p:sp>
      <p:sp>
        <p:nvSpPr>
          <p:cNvPr id="6" name="ps:s8-earnings-to-cash-heading:unit"/>
          <p:cNvSpPr/>
          <p:nvPr/>
        </p:nvSpPr>
        <p:spPr>
          <a:xfrm>
            <a:off x="3819525" y="1771650"/>
            <a:ext cx="7800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7" name="ps:s8-earnings-to-cash-heading:rule"/>
          <p:cNvSpPr/>
          <p:nvPr/>
        </p:nvSpPr>
        <p:spPr>
          <a:xfrm>
            <a:off x="571500" y="2057400"/>
            <a:ext cx="1104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8-earnings-to-cash:axis-label:0"/>
          <p:cNvSpPr/>
          <p:nvPr/>
        </p:nvSpPr>
        <p:spPr>
          <a:xfrm>
            <a:off x="552450" y="47815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9" name="ps:s8-earnings-to-cash:axis-label:1"/>
          <p:cNvSpPr/>
          <p:nvPr/>
        </p:nvSpPr>
        <p:spPr>
          <a:xfrm>
            <a:off x="552450" y="41671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</a:t>
            </a:r>
            <a:endParaRPr lang="en-US" sz="1260" dirty="0"/>
          </a:p>
        </p:txBody>
      </p:sp>
      <p:sp>
        <p:nvSpPr>
          <p:cNvPr id="10" name="ps:s8-earnings-to-cash:axis-label:2"/>
          <p:cNvSpPr/>
          <p:nvPr/>
        </p:nvSpPr>
        <p:spPr>
          <a:xfrm>
            <a:off x="552450" y="35528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60" dirty="0"/>
          </a:p>
        </p:txBody>
      </p:sp>
      <p:sp>
        <p:nvSpPr>
          <p:cNvPr id="11" name="ps:s8-earnings-to-cash:axis-label:3"/>
          <p:cNvSpPr/>
          <p:nvPr/>
        </p:nvSpPr>
        <p:spPr>
          <a:xfrm>
            <a:off x="552450" y="293846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142.5</a:t>
            </a:r>
            <a:endParaRPr lang="en-US" sz="1260" dirty="0"/>
          </a:p>
        </p:txBody>
      </p:sp>
      <p:sp>
        <p:nvSpPr>
          <p:cNvPr id="12" name="ps:s8-earnings-to-cash:axis-label:4"/>
          <p:cNvSpPr/>
          <p:nvPr/>
        </p:nvSpPr>
        <p:spPr>
          <a:xfrm>
            <a:off x="552450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1260" dirty="0"/>
          </a:p>
        </p:txBody>
      </p:sp>
      <p:sp>
        <p:nvSpPr>
          <p:cNvPr id="13" name="ps:s8-earnings-to-cash:y-axis"/>
          <p:cNvSpPr/>
          <p:nvPr/>
        </p:nvSpPr>
        <p:spPr>
          <a:xfrm>
            <a:off x="1085850" y="2438400"/>
            <a:ext cx="0" cy="245745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ps:s8-earnings-to-cash:x-axis"/>
          <p:cNvSpPr/>
          <p:nvPr/>
        </p:nvSpPr>
        <p:spPr>
          <a:xfrm>
            <a:off x="1085850" y="4895850"/>
            <a:ext cx="10382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ps:s8-earnings-to-cash:bar:net-income"/>
          <p:cNvSpPr/>
          <p:nvPr/>
        </p:nvSpPr>
        <p:spPr>
          <a:xfrm>
            <a:off x="1293495" y="2635371"/>
            <a:ext cx="622935" cy="226047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ps:s8-earnings-to-cash:value-label:net-income"/>
          <p:cNvSpPr/>
          <p:nvPr/>
        </p:nvSpPr>
        <p:spPr>
          <a:xfrm>
            <a:off x="1198245" y="2387722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174.8</a:t>
            </a:r>
            <a:endParaRPr lang="en-US" sz="1260" dirty="0"/>
          </a:p>
        </p:txBody>
      </p:sp>
      <p:sp>
        <p:nvSpPr>
          <p:cNvPr id="17" name="ps:s8-earnings-to-cash:category:net-income"/>
          <p:cNvSpPr/>
          <p:nvPr/>
        </p:nvSpPr>
        <p:spPr>
          <a:xfrm>
            <a:off x="108585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</a:t>
            </a:r>
            <a:endParaRPr lang="en-US" sz="1260" dirty="0"/>
          </a:p>
        </p:txBody>
      </p:sp>
      <p:sp>
        <p:nvSpPr>
          <p:cNvPr id="18" name="ps:s8-earnings-to-cash:bar:equity-gains"/>
          <p:cNvSpPr/>
          <p:nvPr/>
        </p:nvSpPr>
        <p:spPr>
          <a:xfrm>
            <a:off x="2331720" y="2635371"/>
            <a:ext cx="622935" cy="1756469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9" name="ps:s8-earnings-to-cash:value-label:equity-gains"/>
          <p:cNvSpPr/>
          <p:nvPr/>
        </p:nvSpPr>
        <p:spPr>
          <a:xfrm>
            <a:off x="2236470" y="2387722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-135.8</a:t>
            </a:r>
            <a:endParaRPr lang="en-US" sz="1260" dirty="0"/>
          </a:p>
        </p:txBody>
      </p:sp>
      <p:sp>
        <p:nvSpPr>
          <p:cNvPr id="20" name="ps:s8-earnings-to-cash:connector:1"/>
          <p:cNvSpPr/>
          <p:nvPr/>
        </p:nvSpPr>
        <p:spPr>
          <a:xfrm>
            <a:off x="1916430" y="2635371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8-earnings-to-cash:category:equity-gains"/>
          <p:cNvSpPr/>
          <p:nvPr/>
        </p:nvSpPr>
        <p:spPr>
          <a:xfrm>
            <a:off x="212407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gains</a:t>
            </a:r>
            <a:endParaRPr lang="en-US" sz="1260" dirty="0"/>
          </a:p>
        </p:txBody>
      </p:sp>
      <p:sp>
        <p:nvSpPr>
          <p:cNvPr id="22" name="ps:s8-earnings-to-cash:bar:deferred-tax"/>
          <p:cNvSpPr/>
          <p:nvPr/>
        </p:nvSpPr>
        <p:spPr>
          <a:xfrm>
            <a:off x="3369945" y="4035665"/>
            <a:ext cx="622935" cy="3561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ps:s8-earnings-to-cash:value-label:deferred-tax"/>
          <p:cNvSpPr/>
          <p:nvPr/>
        </p:nvSpPr>
        <p:spPr>
          <a:xfrm>
            <a:off x="3274695" y="3788015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+27.5</a:t>
            </a:r>
            <a:endParaRPr lang="en-US" sz="1260" dirty="0"/>
          </a:p>
        </p:txBody>
      </p:sp>
      <p:sp>
        <p:nvSpPr>
          <p:cNvPr id="24" name="ps:s8-earnings-to-cash:connector:2"/>
          <p:cNvSpPr/>
          <p:nvPr/>
        </p:nvSpPr>
        <p:spPr>
          <a:xfrm>
            <a:off x="2954655" y="4391840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5" name="ps:s8-earnings-to-cash:category:deferred-tax"/>
          <p:cNvSpPr/>
          <p:nvPr/>
        </p:nvSpPr>
        <p:spPr>
          <a:xfrm>
            <a:off x="316230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tax</a:t>
            </a:r>
            <a:endParaRPr lang="en-US" sz="1260" dirty="0"/>
          </a:p>
        </p:txBody>
      </p:sp>
      <p:sp>
        <p:nvSpPr>
          <p:cNvPr id="26" name="ps:s8-earnings-to-cash:bar:depreciation"/>
          <p:cNvSpPr/>
          <p:nvPr/>
        </p:nvSpPr>
        <p:spPr>
          <a:xfrm>
            <a:off x="4408170" y="3859944"/>
            <a:ext cx="622935" cy="175721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ps:s8-earnings-to-cash:value-label:depreciation"/>
          <p:cNvSpPr/>
          <p:nvPr/>
        </p:nvSpPr>
        <p:spPr>
          <a:xfrm>
            <a:off x="4312920" y="3612294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+13.6</a:t>
            </a:r>
            <a:endParaRPr lang="en-US" sz="1260" dirty="0"/>
          </a:p>
        </p:txBody>
      </p:sp>
      <p:sp>
        <p:nvSpPr>
          <p:cNvPr id="28" name="ps:s8-earnings-to-cash:connector:3"/>
          <p:cNvSpPr/>
          <p:nvPr/>
        </p:nvSpPr>
        <p:spPr>
          <a:xfrm>
            <a:off x="3992880" y="4035665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9" name="ps:s8-earnings-to-cash:category:depreciation"/>
          <p:cNvSpPr/>
          <p:nvPr/>
        </p:nvSpPr>
        <p:spPr>
          <a:xfrm>
            <a:off x="420052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</a:t>
            </a:r>
            <a:endParaRPr lang="en-US" sz="1260" dirty="0"/>
          </a:p>
        </p:txBody>
      </p:sp>
      <p:sp>
        <p:nvSpPr>
          <p:cNvPr id="30" name="ps:s8-earnings-to-cash:bar:stock-comp"/>
          <p:cNvSpPr/>
          <p:nvPr/>
        </p:nvSpPr>
        <p:spPr>
          <a:xfrm>
            <a:off x="5446395" y="3669712"/>
            <a:ext cx="622935" cy="19023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1" name="ps:s8-earnings-to-cash:value-label:stock-comp"/>
          <p:cNvSpPr/>
          <p:nvPr/>
        </p:nvSpPr>
        <p:spPr>
          <a:xfrm>
            <a:off x="5351145" y="3422062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+14.7</a:t>
            </a:r>
            <a:endParaRPr lang="en-US" sz="1260" dirty="0"/>
          </a:p>
        </p:txBody>
      </p:sp>
      <p:sp>
        <p:nvSpPr>
          <p:cNvPr id="32" name="ps:s8-earnings-to-cash:connector:4"/>
          <p:cNvSpPr/>
          <p:nvPr/>
        </p:nvSpPr>
        <p:spPr>
          <a:xfrm>
            <a:off x="5031105" y="3859944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3" name="ps:s8-earnings-to-cash:category:stock-comp"/>
          <p:cNvSpPr/>
          <p:nvPr/>
        </p:nvSpPr>
        <p:spPr>
          <a:xfrm>
            <a:off x="523875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comp.</a:t>
            </a:r>
            <a:endParaRPr lang="en-US" sz="1260" dirty="0"/>
          </a:p>
        </p:txBody>
      </p:sp>
      <p:sp>
        <p:nvSpPr>
          <p:cNvPr id="34" name="ps:s8-earnings-to-cash:bar:other-nc"/>
          <p:cNvSpPr/>
          <p:nvPr/>
        </p:nvSpPr>
        <p:spPr>
          <a:xfrm>
            <a:off x="6484620" y="3628827"/>
            <a:ext cx="622935" cy="408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ps:s8-earnings-to-cash:value-label:other-nc"/>
          <p:cNvSpPr/>
          <p:nvPr/>
        </p:nvSpPr>
        <p:spPr>
          <a:xfrm>
            <a:off x="6389370" y="338117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</a:t>
            </a:r>
            <a:endParaRPr lang="en-US" sz="1260" dirty="0"/>
          </a:p>
        </p:txBody>
      </p:sp>
      <p:sp>
        <p:nvSpPr>
          <p:cNvPr id="36" name="ps:s8-earnings-to-cash:connector:5"/>
          <p:cNvSpPr/>
          <p:nvPr/>
        </p:nvSpPr>
        <p:spPr>
          <a:xfrm>
            <a:off x="6069330" y="3669712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7" name="ps:s8-earnings-to-cash:category:other-nc"/>
          <p:cNvSpPr/>
          <p:nvPr/>
        </p:nvSpPr>
        <p:spPr>
          <a:xfrm>
            <a:off x="627697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NC</a:t>
            </a:r>
            <a:endParaRPr lang="en-US" sz="1260" dirty="0"/>
          </a:p>
        </p:txBody>
      </p:sp>
      <p:sp>
        <p:nvSpPr>
          <p:cNvPr id="38" name="ps:s8-earnings-to-cash:bar:wc-tax"/>
          <p:cNvSpPr/>
          <p:nvPr/>
        </p:nvSpPr>
        <p:spPr>
          <a:xfrm>
            <a:off x="7522845" y="3628827"/>
            <a:ext cx="622935" cy="169460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39" name="ps:s8-earnings-to-cash:value-label:wc-tax"/>
          <p:cNvSpPr/>
          <p:nvPr/>
        </p:nvSpPr>
        <p:spPr>
          <a:xfrm>
            <a:off x="7427595" y="338117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-13.1</a:t>
            </a:r>
            <a:endParaRPr lang="en-US" sz="1260" dirty="0"/>
          </a:p>
        </p:txBody>
      </p:sp>
      <p:sp>
        <p:nvSpPr>
          <p:cNvPr id="40" name="ps:s8-earnings-to-cash:connector:6"/>
          <p:cNvSpPr/>
          <p:nvPr/>
        </p:nvSpPr>
        <p:spPr>
          <a:xfrm>
            <a:off x="7107555" y="3628827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1" name="ps:s8-earnings-to-cash:category:wc-tax"/>
          <p:cNvSpPr/>
          <p:nvPr/>
        </p:nvSpPr>
        <p:spPr>
          <a:xfrm>
            <a:off x="731520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/ tax</a:t>
            </a:r>
            <a:endParaRPr lang="en-US" sz="1260" dirty="0"/>
          </a:p>
        </p:txBody>
      </p:sp>
      <p:sp>
        <p:nvSpPr>
          <p:cNvPr id="42" name="ps:s8-earnings-to-cash:bar:cfo-subtotal"/>
          <p:cNvSpPr/>
          <p:nvPr/>
        </p:nvSpPr>
        <p:spPr>
          <a:xfrm>
            <a:off x="8561070" y="3798288"/>
            <a:ext cx="622935" cy="1097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ps:s8-earnings-to-cash:value-label:cfo-subtotal"/>
          <p:cNvSpPr/>
          <p:nvPr/>
        </p:nvSpPr>
        <p:spPr>
          <a:xfrm>
            <a:off x="8465820" y="355063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84.9</a:t>
            </a:r>
            <a:endParaRPr lang="en-US" sz="1260" dirty="0"/>
          </a:p>
        </p:txBody>
      </p:sp>
      <p:sp>
        <p:nvSpPr>
          <p:cNvPr id="44" name="ps:s8-earnings-to-cash:connector:7"/>
          <p:cNvSpPr/>
          <p:nvPr/>
        </p:nvSpPr>
        <p:spPr>
          <a:xfrm>
            <a:off x="8145780" y="3798288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5" name="ps:s8-earnings-to-cash:category:cfo-subtotal"/>
          <p:cNvSpPr/>
          <p:nvPr/>
        </p:nvSpPr>
        <p:spPr>
          <a:xfrm>
            <a:off x="835342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subtotal</a:t>
            </a:r>
            <a:endParaRPr lang="en-US" sz="1260" dirty="0"/>
          </a:p>
        </p:txBody>
      </p:sp>
      <p:sp>
        <p:nvSpPr>
          <p:cNvPr id="46" name="ps:s8-earnings-to-cash:bar:capex"/>
          <p:cNvSpPr/>
          <p:nvPr/>
        </p:nvSpPr>
        <p:spPr>
          <a:xfrm>
            <a:off x="9599295" y="3798288"/>
            <a:ext cx="622935" cy="1042451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47" name="ps:s8-earnings-to-cash:value-label:capex"/>
          <p:cNvSpPr/>
          <p:nvPr/>
        </p:nvSpPr>
        <p:spPr>
          <a:xfrm>
            <a:off x="9504045" y="355063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-80.6</a:t>
            </a:r>
            <a:endParaRPr lang="en-US" sz="1260" dirty="0"/>
          </a:p>
        </p:txBody>
      </p:sp>
      <p:sp>
        <p:nvSpPr>
          <p:cNvPr id="48" name="ps:s8-earnings-to-cash:connector:8"/>
          <p:cNvSpPr/>
          <p:nvPr/>
        </p:nvSpPr>
        <p:spPr>
          <a:xfrm>
            <a:off x="9184005" y="3798288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9" name="ps:s8-earnings-to-cash:category:capex"/>
          <p:cNvSpPr/>
          <p:nvPr/>
        </p:nvSpPr>
        <p:spPr>
          <a:xfrm>
            <a:off x="939165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260" dirty="0"/>
          </a:p>
        </p:txBody>
      </p:sp>
      <p:sp>
        <p:nvSpPr>
          <p:cNvPr id="50" name="ps:s8-earnings-to-cash:bar:fcf"/>
          <p:cNvSpPr/>
          <p:nvPr/>
        </p:nvSpPr>
        <p:spPr>
          <a:xfrm>
            <a:off x="10637520" y="4840739"/>
            <a:ext cx="622935" cy="551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ps:s8-earnings-to-cash:value-label:fcf"/>
          <p:cNvSpPr/>
          <p:nvPr/>
        </p:nvSpPr>
        <p:spPr>
          <a:xfrm>
            <a:off x="10542270" y="459308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260" dirty="0"/>
          </a:p>
        </p:txBody>
      </p:sp>
      <p:sp>
        <p:nvSpPr>
          <p:cNvPr id="52" name="ps:s8-earnings-to-cash:connector:9"/>
          <p:cNvSpPr/>
          <p:nvPr/>
        </p:nvSpPr>
        <p:spPr>
          <a:xfrm>
            <a:off x="10222230" y="4840739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53" name="ps:s8-earnings-to-cash:category:fcf"/>
          <p:cNvSpPr/>
          <p:nvPr/>
        </p:nvSpPr>
        <p:spPr>
          <a:xfrm>
            <a:off x="1042987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</a:t>
            </a:r>
            <a:endParaRPr lang="en-US" sz="1260" dirty="0"/>
          </a:p>
        </p:txBody>
      </p:sp>
      <p:sp>
        <p:nvSpPr>
          <p:cNvPr id="54" name="ps:s8-cash-funding-test:surface"/>
          <p:cNvSpPr/>
          <p:nvPr/>
        </p:nvSpPr>
        <p:spPr>
          <a:xfrm>
            <a:off x="571500" y="56959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ps:s8-cash-funding-test:body"/>
          <p:cNvSpPr/>
          <p:nvPr/>
        </p:nvSpPr>
        <p:spPr>
          <a:xfrm>
            <a:off x="800100" y="584835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profit is a weak signal of self-funded growth while noncash marks dominate earnings and investment absorbs operating cash;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capital-allocation test must turn on cash conversion.</a:t>
            </a:r>
            <a:endParaRPr lang="en-US" sz="12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9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spending overtook operating cash flow in Q2 as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 lagged investment</a:t>
            </a:r>
            <a:endParaRPr lang="en-US" sz="2700" dirty="0"/>
          </a:p>
        </p:txBody>
      </p:sp>
      <p:sp>
        <p:nvSpPr>
          <p:cNvPr id="3" name="ps:s9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20" dirty="0"/>
          </a:p>
        </p:txBody>
      </p:sp>
      <p:sp>
        <p:nvSpPr>
          <p:cNvPr id="4" name="ps:s9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9-cash-investment-heading:heading"/>
          <p:cNvSpPr/>
          <p:nvPr/>
        </p:nvSpPr>
        <p:spPr>
          <a:xfrm>
            <a:off x="571500" y="1771650"/>
            <a:ext cx="25336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and capital expenditure,</a:t>
            </a:r>
            <a:endParaRPr lang="en-US" sz="1440" dirty="0"/>
          </a:p>
        </p:txBody>
      </p:sp>
      <p:sp>
        <p:nvSpPr>
          <p:cNvPr id="6" name="ps:s9-cash-investment-heading:unit"/>
          <p:cNvSpPr/>
          <p:nvPr/>
        </p:nvSpPr>
        <p:spPr>
          <a:xfrm>
            <a:off x="3105150" y="1771650"/>
            <a:ext cx="2724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bn; chronological quarters</a:t>
            </a:r>
            <a:endParaRPr lang="en-US" sz="1440" dirty="0"/>
          </a:p>
        </p:txBody>
      </p:sp>
      <p:sp>
        <p:nvSpPr>
          <p:cNvPr id="7" name="ps:s9-cash-investment-heading:rule"/>
          <p:cNvSpPr/>
          <p:nvPr/>
        </p:nvSpPr>
        <p:spPr>
          <a:xfrm>
            <a:off x="5715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9-cash-investment:key:0"/>
          <p:cNvSpPr/>
          <p:nvPr/>
        </p:nvSpPr>
        <p:spPr>
          <a:xfrm>
            <a:off x="4343305" y="2295525"/>
            <a:ext cx="114300" cy="114300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9" name="ps:s9-cash-investment:label:0"/>
          <p:cNvSpPr/>
          <p:nvPr/>
        </p:nvSpPr>
        <p:spPr>
          <a:xfrm>
            <a:off x="4533805" y="2238375"/>
            <a:ext cx="3377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260" dirty="0"/>
          </a:p>
        </p:txBody>
      </p:sp>
      <p:sp>
        <p:nvSpPr>
          <p:cNvPr id="10" name="ps:s9-cash-investment:key:1"/>
          <p:cNvSpPr/>
          <p:nvPr/>
        </p:nvSpPr>
        <p:spPr>
          <a:xfrm>
            <a:off x="5023961" y="2295525"/>
            <a:ext cx="114300" cy="114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ps:s9-cash-investment:label:1"/>
          <p:cNvSpPr/>
          <p:nvPr/>
        </p:nvSpPr>
        <p:spPr>
          <a:xfrm>
            <a:off x="5214461" y="2238375"/>
            <a:ext cx="4624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260" dirty="0"/>
          </a:p>
        </p:txBody>
      </p:sp>
      <p:sp>
        <p:nvSpPr>
          <p:cNvPr id="12" name="ps:s9-cash-investment:axis-label:0"/>
          <p:cNvSpPr/>
          <p:nvPr/>
        </p:nvSpPr>
        <p:spPr>
          <a:xfrm>
            <a:off x="857250" y="5105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13" name="ps:s9-cash-investment:axis-label:1"/>
          <p:cNvSpPr/>
          <p:nvPr/>
        </p:nvSpPr>
        <p:spPr>
          <a:xfrm>
            <a:off x="857250" y="46672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60" dirty="0"/>
          </a:p>
        </p:txBody>
      </p:sp>
      <p:sp>
        <p:nvSpPr>
          <p:cNvPr id="14" name="ps:s9-cash-investment:axis-label:2"/>
          <p:cNvSpPr/>
          <p:nvPr/>
        </p:nvSpPr>
        <p:spPr>
          <a:xfrm>
            <a:off x="857250" y="4229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60" dirty="0"/>
          </a:p>
        </p:txBody>
      </p:sp>
      <p:sp>
        <p:nvSpPr>
          <p:cNvPr id="15" name="ps:s9-cash-investment:axis-label:3"/>
          <p:cNvSpPr/>
          <p:nvPr/>
        </p:nvSpPr>
        <p:spPr>
          <a:xfrm>
            <a:off x="857250" y="37909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60" dirty="0"/>
          </a:p>
        </p:txBody>
      </p:sp>
      <p:sp>
        <p:nvSpPr>
          <p:cNvPr id="16" name="ps:s9-cash-investment:axis-label:4"/>
          <p:cNvSpPr/>
          <p:nvPr/>
        </p:nvSpPr>
        <p:spPr>
          <a:xfrm>
            <a:off x="857250" y="3352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60" dirty="0"/>
          </a:p>
        </p:txBody>
      </p:sp>
      <p:sp>
        <p:nvSpPr>
          <p:cNvPr id="17" name="ps:s9-cash-investment:y-axis"/>
          <p:cNvSpPr/>
          <p:nvPr/>
        </p:nvSpPr>
        <p:spPr>
          <a:xfrm>
            <a:off x="1390650" y="34671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8" name="ps:s9-cash-investment:x-axis"/>
          <p:cNvSpPr/>
          <p:nvPr/>
        </p:nvSpPr>
        <p:spPr>
          <a:xfrm>
            <a:off x="1390650" y="5219700"/>
            <a:ext cx="4286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9" name="ps:s9-cash-investment:series:cfo:q3-2025"/>
          <p:cNvSpPr/>
          <p:nvPr/>
        </p:nvSpPr>
        <p:spPr>
          <a:xfrm>
            <a:off x="1551385" y="3805527"/>
            <a:ext cx="336947" cy="1414173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20" name="ps:s9-cash-investment:value-label:cfo:q3-2025"/>
          <p:cNvSpPr/>
          <p:nvPr/>
        </p:nvSpPr>
        <p:spPr>
          <a:xfrm>
            <a:off x="1456134" y="3557877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</a:t>
            </a:r>
            <a:endParaRPr lang="en-US" sz="1260" dirty="0"/>
          </a:p>
        </p:txBody>
      </p:sp>
      <p:sp>
        <p:nvSpPr>
          <p:cNvPr id="21" name="ps:s9-cash-investment:series:capex:q3-2025"/>
          <p:cNvSpPr/>
          <p:nvPr/>
        </p:nvSpPr>
        <p:spPr>
          <a:xfrm>
            <a:off x="1926431" y="4520033"/>
            <a:ext cx="336947" cy="69966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ps:s9-cash-investment:value-label:capex:q3-2025"/>
          <p:cNvSpPr/>
          <p:nvPr/>
        </p:nvSpPr>
        <p:spPr>
          <a:xfrm>
            <a:off x="1831181" y="4272382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</a:t>
            </a:r>
            <a:endParaRPr lang="en-US" sz="1260" dirty="0"/>
          </a:p>
        </p:txBody>
      </p:sp>
      <p:sp>
        <p:nvSpPr>
          <p:cNvPr id="23" name="ps:s9-cash-investment:category:q3-2025"/>
          <p:cNvSpPr/>
          <p:nvPr/>
        </p:nvSpPr>
        <p:spPr>
          <a:xfrm>
            <a:off x="1475184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260" dirty="0"/>
          </a:p>
        </p:txBody>
      </p:sp>
      <p:sp>
        <p:nvSpPr>
          <p:cNvPr id="24" name="ps:s9-cash-investment:series:cfo:q4-2025"/>
          <p:cNvSpPr/>
          <p:nvPr/>
        </p:nvSpPr>
        <p:spPr>
          <a:xfrm>
            <a:off x="2622947" y="3689037"/>
            <a:ext cx="336947" cy="1530663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25" name="ps:s9-cash-investment:value-label:cfo:q4-2025"/>
          <p:cNvSpPr/>
          <p:nvPr/>
        </p:nvSpPr>
        <p:spPr>
          <a:xfrm>
            <a:off x="2527697" y="3441387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</a:t>
            </a:r>
            <a:endParaRPr lang="en-US" sz="1260" dirty="0"/>
          </a:p>
        </p:txBody>
      </p:sp>
      <p:sp>
        <p:nvSpPr>
          <p:cNvPr id="26" name="ps:s9-cash-investment:series:capex:q4-2025"/>
          <p:cNvSpPr/>
          <p:nvPr/>
        </p:nvSpPr>
        <p:spPr>
          <a:xfrm>
            <a:off x="2997994" y="4406173"/>
            <a:ext cx="336947" cy="81352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ps:s9-cash-investment:value-label:capex:q4-2025"/>
          <p:cNvSpPr/>
          <p:nvPr/>
        </p:nvSpPr>
        <p:spPr>
          <a:xfrm>
            <a:off x="2902744" y="4158523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</a:t>
            </a:r>
            <a:endParaRPr lang="en-US" sz="1260" dirty="0"/>
          </a:p>
        </p:txBody>
      </p:sp>
      <p:sp>
        <p:nvSpPr>
          <p:cNvPr id="28" name="ps:s9-cash-investment:category:q4-2025"/>
          <p:cNvSpPr/>
          <p:nvPr/>
        </p:nvSpPr>
        <p:spPr>
          <a:xfrm>
            <a:off x="2546747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260" dirty="0"/>
          </a:p>
        </p:txBody>
      </p:sp>
      <p:sp>
        <p:nvSpPr>
          <p:cNvPr id="29" name="ps:s9-cash-investment:series:cfo:q1-2026"/>
          <p:cNvSpPr/>
          <p:nvPr/>
        </p:nvSpPr>
        <p:spPr>
          <a:xfrm>
            <a:off x="3694510" y="3882174"/>
            <a:ext cx="336947" cy="1337526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0" name="ps:s9-cash-investment:value-label:cfo:q1-2026"/>
          <p:cNvSpPr/>
          <p:nvPr/>
        </p:nvSpPr>
        <p:spPr>
          <a:xfrm>
            <a:off x="3599259" y="3634524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</a:t>
            </a:r>
            <a:endParaRPr lang="en-US" sz="1260" dirty="0"/>
          </a:p>
        </p:txBody>
      </p:sp>
      <p:sp>
        <p:nvSpPr>
          <p:cNvPr id="31" name="ps:s9-cash-investment:series:capex:q1-2026"/>
          <p:cNvSpPr/>
          <p:nvPr/>
        </p:nvSpPr>
        <p:spPr>
          <a:xfrm>
            <a:off x="4069556" y="4177662"/>
            <a:ext cx="336947" cy="1042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ps:s9-cash-investment:value-label:capex:q1-2026"/>
          <p:cNvSpPr/>
          <p:nvPr/>
        </p:nvSpPr>
        <p:spPr>
          <a:xfrm>
            <a:off x="3974306" y="3930013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35.7</a:t>
            </a:r>
            <a:endParaRPr lang="en-US" sz="1260" dirty="0"/>
          </a:p>
        </p:txBody>
      </p:sp>
      <p:sp>
        <p:nvSpPr>
          <p:cNvPr id="33" name="ps:s9-cash-investment:category:q1-2026"/>
          <p:cNvSpPr/>
          <p:nvPr/>
        </p:nvSpPr>
        <p:spPr>
          <a:xfrm>
            <a:off x="3618309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260" dirty="0"/>
          </a:p>
        </p:txBody>
      </p:sp>
      <p:sp>
        <p:nvSpPr>
          <p:cNvPr id="34" name="ps:s9-cash-investment:series:cfo:q2-2026"/>
          <p:cNvSpPr/>
          <p:nvPr/>
        </p:nvSpPr>
        <p:spPr>
          <a:xfrm>
            <a:off x="4766072" y="4078495"/>
            <a:ext cx="336947" cy="1141205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5" name="ps:s9-cash-investment:value-label:cfo:q2-2026"/>
          <p:cNvSpPr/>
          <p:nvPr/>
        </p:nvSpPr>
        <p:spPr>
          <a:xfrm>
            <a:off x="4670822" y="3830845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</a:t>
            </a:r>
            <a:endParaRPr lang="en-US" sz="1260" dirty="0"/>
          </a:p>
        </p:txBody>
      </p:sp>
      <p:sp>
        <p:nvSpPr>
          <p:cNvPr id="36" name="ps:s9-cash-investment:series:capex:q2-2026"/>
          <p:cNvSpPr/>
          <p:nvPr/>
        </p:nvSpPr>
        <p:spPr>
          <a:xfrm>
            <a:off x="5141119" y="3907470"/>
            <a:ext cx="336947" cy="131223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s:s9-cash-investment:value-label:capex:q2-2026"/>
          <p:cNvSpPr/>
          <p:nvPr/>
        </p:nvSpPr>
        <p:spPr>
          <a:xfrm>
            <a:off x="5045869" y="3659820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44.9</a:t>
            </a:r>
            <a:endParaRPr lang="en-US" sz="1260" dirty="0"/>
          </a:p>
        </p:txBody>
      </p:sp>
      <p:sp>
        <p:nvSpPr>
          <p:cNvPr id="38" name="ps:s9-cash-investment:category:q2-2026"/>
          <p:cNvSpPr/>
          <p:nvPr/>
        </p:nvSpPr>
        <p:spPr>
          <a:xfrm>
            <a:off x="4689872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39" name="ps:s9-cash-investment:change:0:span"/>
          <p:cNvSpPr/>
          <p:nvPr/>
        </p:nvSpPr>
        <p:spPr>
          <a:xfrm>
            <a:off x="4934545" y="3143250"/>
            <a:ext cx="375047" cy="0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40" name="ps:s9-cash-investment:change:0:start-drop"/>
          <p:cNvSpPr/>
          <p:nvPr/>
        </p:nvSpPr>
        <p:spPr>
          <a:xfrm>
            <a:off x="4934545" y="3143250"/>
            <a:ext cx="0" cy="573294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41" name="ps:s9-cash-investment:change:0:end-drop"/>
          <p:cNvSpPr/>
          <p:nvPr/>
        </p:nvSpPr>
        <p:spPr>
          <a:xfrm>
            <a:off x="5309593" y="3143250"/>
            <a:ext cx="0" cy="402270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  <a:tailEnd type="triangle"/>
          </a:ln>
        </p:spPr>
      </p:sp>
      <p:sp>
        <p:nvSpPr>
          <p:cNvPr id="42" name="ps:s9-cash-investment:change-label-surface:0"/>
          <p:cNvSpPr/>
          <p:nvPr/>
        </p:nvSpPr>
        <p:spPr>
          <a:xfrm>
            <a:off x="4807744" y="2752725"/>
            <a:ext cx="628650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ps:s9-cash-investment:change-label:0"/>
          <p:cNvSpPr/>
          <p:nvPr/>
        </p:nvSpPr>
        <p:spPr>
          <a:xfrm>
            <a:off x="4902994" y="2790825"/>
            <a:ext cx="438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</a:t>
            </a:r>
            <a:endParaRPr lang="en-US" sz="1260" dirty="0"/>
          </a:p>
        </p:txBody>
      </p:sp>
      <p:sp>
        <p:nvSpPr>
          <p:cNvPr id="44" name="ps:s9-cash-investment:annotation-rail-surface:0"/>
          <p:cNvSpPr/>
          <p:nvPr/>
        </p:nvSpPr>
        <p:spPr>
          <a:xfrm>
            <a:off x="1674019" y="5600700"/>
            <a:ext cx="50482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ps:s9-cash-investment:annotation-rail-text:0"/>
          <p:cNvSpPr/>
          <p:nvPr/>
        </p:nvSpPr>
        <p:spPr>
          <a:xfrm>
            <a:off x="1750219" y="562927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</a:t>
            </a:r>
            <a:endParaRPr lang="en-US" sz="1260" dirty="0"/>
          </a:p>
        </p:txBody>
      </p:sp>
      <p:sp>
        <p:nvSpPr>
          <p:cNvPr id="46" name="ps:s9-cash-investment:annotation-rail-surface:1"/>
          <p:cNvSpPr/>
          <p:nvPr/>
        </p:nvSpPr>
        <p:spPr>
          <a:xfrm>
            <a:off x="2745581" y="5600700"/>
            <a:ext cx="50482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ps:s9-cash-investment:annotation-rail-text:1"/>
          <p:cNvSpPr/>
          <p:nvPr/>
        </p:nvSpPr>
        <p:spPr>
          <a:xfrm>
            <a:off x="2821782" y="562927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</a:t>
            </a:r>
            <a:endParaRPr lang="en-US" sz="1260" dirty="0"/>
          </a:p>
        </p:txBody>
      </p:sp>
      <p:sp>
        <p:nvSpPr>
          <p:cNvPr id="48" name="ps:s9-cash-investment:annotation-rail-surface:2"/>
          <p:cNvSpPr/>
          <p:nvPr/>
        </p:nvSpPr>
        <p:spPr>
          <a:xfrm>
            <a:off x="3817144" y="5600700"/>
            <a:ext cx="50482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ps:s9-cash-investment:annotation-rail-text:2"/>
          <p:cNvSpPr/>
          <p:nvPr/>
        </p:nvSpPr>
        <p:spPr>
          <a:xfrm>
            <a:off x="3893344" y="562927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</a:t>
            </a:r>
            <a:endParaRPr lang="en-US" sz="1260" dirty="0"/>
          </a:p>
        </p:txBody>
      </p:sp>
      <p:sp>
        <p:nvSpPr>
          <p:cNvPr id="50" name="ps:s9-cash-investment:annotation-rail-surface:3"/>
          <p:cNvSpPr/>
          <p:nvPr/>
        </p:nvSpPr>
        <p:spPr>
          <a:xfrm>
            <a:off x="4893469" y="5600700"/>
            <a:ext cx="4953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ps:s9-cash-investment:annotation-rail-text:3"/>
          <p:cNvSpPr/>
          <p:nvPr/>
        </p:nvSpPr>
        <p:spPr>
          <a:xfrm>
            <a:off x="4969669" y="56292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-5.9</a:t>
            </a:r>
            <a:endParaRPr lang="en-US" sz="1260" dirty="0"/>
          </a:p>
        </p:txBody>
      </p:sp>
      <p:sp>
        <p:nvSpPr>
          <p:cNvPr id="52" name="ps:s9-cash-investment:annotation-rail-label"/>
          <p:cNvSpPr/>
          <p:nvPr/>
        </p:nvSpPr>
        <p:spPr>
          <a:xfrm>
            <a:off x="571500" y="5600700"/>
            <a:ext cx="704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FCF, $bn</a:t>
            </a:r>
            <a:endParaRPr lang="en-US" sz="1260" dirty="0"/>
          </a:p>
        </p:txBody>
      </p:sp>
      <p:sp>
        <p:nvSpPr>
          <p:cNvPr id="53" name="ps:s9-investment-related-context:separator"/>
          <p:cNvSpPr/>
          <p:nvPr/>
        </p:nvSpPr>
        <p:spPr>
          <a:xfrm>
            <a:off x="60960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54" name="ps:s9-investment-lag-heading:heading"/>
          <p:cNvSpPr/>
          <p:nvPr/>
        </p:nvSpPr>
        <p:spPr>
          <a:xfrm>
            <a:off x="6362700" y="1771650"/>
            <a:ext cx="5257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Investment-return evidence</a:t>
            </a:r>
            <a:endParaRPr lang="en-US" sz="1440" dirty="0"/>
          </a:p>
        </p:txBody>
      </p:sp>
      <p:sp>
        <p:nvSpPr>
          <p:cNvPr id="55" name="ps:s9-investment-lag-heading:rule"/>
          <p:cNvSpPr/>
          <p:nvPr/>
        </p:nvSpPr>
        <p:spPr>
          <a:xfrm>
            <a:off x="63627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6" name="ps:s9-investment-lag-bullets:marker:0"/>
          <p:cNvSpPr/>
          <p:nvPr/>
        </p:nvSpPr>
        <p:spPr>
          <a:xfrm>
            <a:off x="63627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7" name="ps:s9-investment-lag-bullets:item:0"/>
          <p:cNvSpPr/>
          <p:nvPr/>
        </p:nvSpPr>
        <p:spPr>
          <a:xfrm>
            <a:off x="6515100" y="2457450"/>
            <a:ext cx="51054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capex was $80.6bn versus $13.6bn depreciation.</a:t>
            </a:r>
            <a:endParaRPr lang="en-US" sz="1260" dirty="0"/>
          </a:p>
        </p:txBody>
      </p:sp>
      <p:sp>
        <p:nvSpPr>
          <p:cNvPr id="58" name="ps:s9-investment-lag-bullets:marker:1"/>
          <p:cNvSpPr/>
          <p:nvPr/>
        </p:nvSpPr>
        <p:spPr>
          <a:xfrm>
            <a:off x="6362700" y="27860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9" name="ps:s9-investment-lag-bullets:item:1"/>
          <p:cNvSpPr/>
          <p:nvPr/>
        </p:nvSpPr>
        <p:spPr>
          <a:xfrm>
            <a:off x="6515100" y="271462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maintenance/growth split is undisclosed, so the gap is not a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of incremental capacity.</a:t>
            </a:r>
            <a:endParaRPr lang="en-US" sz="1260" dirty="0"/>
          </a:p>
        </p:txBody>
      </p:sp>
      <p:sp>
        <p:nvSpPr>
          <p:cNvPr id="60" name="ps:s9-investment-lag-bullets:marker:2"/>
          <p:cNvSpPr/>
          <p:nvPr/>
        </p:nvSpPr>
        <p:spPr>
          <a:xfrm>
            <a:off x="6362700" y="32242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1" name="ps:s9-investment-lag-bullets:item:2"/>
          <p:cNvSpPr/>
          <p:nvPr/>
        </p:nvSpPr>
        <p:spPr>
          <a:xfrm>
            <a:off x="6515100" y="315277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utilization and future depreciation before inferring returns from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cycle.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0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Excluding equity investments reduces headline liquidity from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$242.5 billion to $155.4 billion</a:t>
            </a:r>
            <a:endParaRPr lang="en-US" sz="2700" dirty="0"/>
          </a:p>
        </p:txBody>
      </p:sp>
      <p:sp>
        <p:nvSpPr>
          <p:cNvPr id="3" name="ps:s10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" dirty="0"/>
          </a:p>
        </p:txBody>
      </p:sp>
      <p:sp>
        <p:nvSpPr>
          <p:cNvPr id="4" name="ps:s10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10-usable-liquidity-heading:heading"/>
          <p:cNvSpPr/>
          <p:nvPr/>
        </p:nvSpPr>
        <p:spPr>
          <a:xfrm>
            <a:off x="571500" y="1771650"/>
            <a:ext cx="2819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cash / debt definition,</a:t>
            </a:r>
            <a:endParaRPr lang="en-US" sz="1440" dirty="0"/>
          </a:p>
        </p:txBody>
      </p:sp>
      <p:sp>
        <p:nvSpPr>
          <p:cNvPr id="6" name="ps:s10-usable-liquidity-heading:unit"/>
          <p:cNvSpPr/>
          <p:nvPr/>
        </p:nvSpPr>
        <p:spPr>
          <a:xfrm>
            <a:off x="3390900" y="1771650"/>
            <a:ext cx="2438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7" name="ps:s10-usable-liquidity-heading:rule"/>
          <p:cNvSpPr/>
          <p:nvPr/>
        </p:nvSpPr>
        <p:spPr>
          <a:xfrm>
            <a:off x="5715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0-usable-liquidity:x-axis"/>
          <p:cNvSpPr/>
          <p:nvPr/>
        </p:nvSpPr>
        <p:spPr>
          <a:xfrm>
            <a:off x="1085850" y="5715000"/>
            <a:ext cx="42291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ps:s10-usable-liquidity:bar:headline-current"/>
          <p:cNvSpPr/>
          <p:nvPr/>
        </p:nvSpPr>
        <p:spPr>
          <a:xfrm>
            <a:off x="1367790" y="2772443"/>
            <a:ext cx="845820" cy="294255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ps:s10-usable-liquidity:value-label:headline-current"/>
          <p:cNvSpPr/>
          <p:nvPr/>
        </p:nvSpPr>
        <p:spPr>
          <a:xfrm>
            <a:off x="1272540" y="2524794"/>
            <a:ext cx="103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242.5</a:t>
            </a:r>
            <a:endParaRPr lang="en-US" sz="1260" dirty="0"/>
          </a:p>
        </p:txBody>
      </p:sp>
      <p:sp>
        <p:nvSpPr>
          <p:cNvPr id="11" name="ps:s10-usable-liquidity:category:headline-current"/>
          <p:cNvSpPr/>
          <p:nvPr/>
        </p:nvSpPr>
        <p:spPr>
          <a:xfrm>
            <a:off x="1085850" y="5791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current</a:t>
            </a:r>
            <a:endParaRPr lang="en-US" sz="1260" dirty="0"/>
          </a:p>
        </p:txBody>
      </p:sp>
      <p:sp>
        <p:nvSpPr>
          <p:cNvPr id="12" name="ps:s10-usable-liquidity:bar:all-current-equity"/>
          <p:cNvSpPr/>
          <p:nvPr/>
        </p:nvSpPr>
        <p:spPr>
          <a:xfrm>
            <a:off x="2777490" y="2772443"/>
            <a:ext cx="845820" cy="1056558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3" name="ps:s10-usable-liquidity:value-label:all-current-equity"/>
          <p:cNvSpPr/>
          <p:nvPr/>
        </p:nvSpPr>
        <p:spPr>
          <a:xfrm>
            <a:off x="2682240" y="2524794"/>
            <a:ext cx="103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-87.1</a:t>
            </a:r>
            <a:endParaRPr lang="en-US" sz="1260" dirty="0"/>
          </a:p>
        </p:txBody>
      </p:sp>
      <p:sp>
        <p:nvSpPr>
          <p:cNvPr id="14" name="ps:s10-usable-liquidity:connector:1"/>
          <p:cNvSpPr/>
          <p:nvPr/>
        </p:nvSpPr>
        <p:spPr>
          <a:xfrm>
            <a:off x="2213610" y="2772443"/>
            <a:ext cx="5638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5" name="ps:s10-usable-liquidity:category:all-current-equity"/>
          <p:cNvSpPr/>
          <p:nvPr/>
        </p:nvSpPr>
        <p:spPr>
          <a:xfrm>
            <a:off x="2495550" y="5791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current equity</a:t>
            </a:r>
            <a:endParaRPr lang="en-US" sz="1260" dirty="0"/>
          </a:p>
        </p:txBody>
      </p:sp>
      <p:sp>
        <p:nvSpPr>
          <p:cNvPr id="16" name="ps:s10-usable-liquidity:bar:cash-debt"/>
          <p:cNvSpPr/>
          <p:nvPr/>
        </p:nvSpPr>
        <p:spPr>
          <a:xfrm>
            <a:off x="4187190" y="3829002"/>
            <a:ext cx="845820" cy="188599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ps:s10-usable-liquidity:value-label:cash-debt"/>
          <p:cNvSpPr/>
          <p:nvPr/>
        </p:nvSpPr>
        <p:spPr>
          <a:xfrm>
            <a:off x="4091940" y="3581352"/>
            <a:ext cx="103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</a:t>
            </a:r>
            <a:endParaRPr lang="en-US" sz="1260" dirty="0"/>
          </a:p>
        </p:txBody>
      </p:sp>
      <p:sp>
        <p:nvSpPr>
          <p:cNvPr id="18" name="ps:s10-usable-liquidity:connector:2"/>
          <p:cNvSpPr/>
          <p:nvPr/>
        </p:nvSpPr>
        <p:spPr>
          <a:xfrm>
            <a:off x="3623310" y="3829002"/>
            <a:ext cx="5638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9" name="ps:s10-usable-liquidity:category:cash-debt"/>
          <p:cNvSpPr/>
          <p:nvPr/>
        </p:nvSpPr>
        <p:spPr>
          <a:xfrm>
            <a:off x="3905250" y="5791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/ debt</a:t>
            </a:r>
            <a:endParaRPr lang="en-US" sz="1260" dirty="0"/>
          </a:p>
        </p:txBody>
      </p:sp>
      <p:sp>
        <p:nvSpPr>
          <p:cNvPr id="20" name="ps:s10-liquidity-related-context:separator"/>
          <p:cNvSpPr/>
          <p:nvPr/>
        </p:nvSpPr>
        <p:spPr>
          <a:xfrm>
            <a:off x="60960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21" name="ps:s10-s10-table-title:heading"/>
          <p:cNvSpPr/>
          <p:nvPr/>
        </p:nvSpPr>
        <p:spPr>
          <a:xfrm>
            <a:off x="6362700" y="1771650"/>
            <a:ext cx="5257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resources and capital claims</a:t>
            </a:r>
            <a:endParaRPr lang="en-US" sz="1440" dirty="0"/>
          </a:p>
        </p:txBody>
      </p:sp>
      <p:sp>
        <p:nvSpPr>
          <p:cNvPr id="22" name="ps:s10-s10-table-title:rule"/>
          <p:cNvSpPr/>
          <p:nvPr/>
        </p:nvSpPr>
        <p:spPr>
          <a:xfrm>
            <a:off x="63627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3" name="ps:s10-liquidity-resources-claims:header-text:0"/>
          <p:cNvSpPr/>
          <p:nvPr/>
        </p:nvSpPr>
        <p:spPr>
          <a:xfrm>
            <a:off x="6477000" y="2438400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260" dirty="0"/>
          </a:p>
        </p:txBody>
      </p:sp>
      <p:sp>
        <p:nvSpPr>
          <p:cNvPr id="24" name="ps:s10-liquidity-resources-claims:header-rule:0"/>
          <p:cNvSpPr/>
          <p:nvPr/>
        </p:nvSpPr>
        <p:spPr>
          <a:xfrm>
            <a:off x="6362700" y="2914650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0-liquidity-resources-claims:header-text:1"/>
          <p:cNvSpPr/>
          <p:nvPr/>
        </p:nvSpPr>
        <p:spPr>
          <a:xfrm>
            <a:off x="8054340" y="2438400"/>
            <a:ext cx="6652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bn</a:t>
            </a:r>
            <a:endParaRPr lang="en-US" sz="1260" dirty="0"/>
          </a:p>
        </p:txBody>
      </p:sp>
      <p:sp>
        <p:nvSpPr>
          <p:cNvPr id="26" name="ps:s10-liquidity-resources-claims:header-rule:1"/>
          <p:cNvSpPr/>
          <p:nvPr/>
        </p:nvSpPr>
        <p:spPr>
          <a:xfrm>
            <a:off x="7940040" y="2914650"/>
            <a:ext cx="81762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7" name="ps:s10-liquidity-resources-claims:header-text:2"/>
          <p:cNvSpPr/>
          <p:nvPr/>
        </p:nvSpPr>
        <p:spPr>
          <a:xfrm>
            <a:off x="8948166" y="2438400"/>
            <a:ext cx="25580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260" dirty="0"/>
          </a:p>
        </p:txBody>
      </p:sp>
      <p:sp>
        <p:nvSpPr>
          <p:cNvPr id="28" name="ps:s10-liquidity-resources-claims:header-rule:2"/>
          <p:cNvSpPr/>
          <p:nvPr/>
        </p:nvSpPr>
        <p:spPr>
          <a:xfrm>
            <a:off x="8833866" y="2914650"/>
            <a:ext cx="271043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9" name="ps:s10-liquidity-resources-claims:cell:0:0"/>
          <p:cNvSpPr/>
          <p:nvPr/>
        </p:nvSpPr>
        <p:spPr>
          <a:xfrm>
            <a:off x="6362700" y="2952750"/>
            <a:ext cx="15011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ps:s10-liquidity-resources-claims:cell-text:0:0:0"/>
          <p:cNvSpPr/>
          <p:nvPr/>
        </p:nvSpPr>
        <p:spPr>
          <a:xfrm>
            <a:off x="6477000" y="3028950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marketable debt</a:t>
            </a:r>
            <a:endParaRPr lang="en-US" sz="1260" dirty="0"/>
          </a:p>
        </p:txBody>
      </p:sp>
      <p:sp>
        <p:nvSpPr>
          <p:cNvPr id="31" name="ps:s10-liquidity-resources-claims-cell-0-0:rule"/>
          <p:cNvSpPr/>
          <p:nvPr/>
        </p:nvSpPr>
        <p:spPr>
          <a:xfrm>
            <a:off x="6362700" y="3505200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2" name="ps:s10-liquidity-resources-claims:cell-text:0:1:0"/>
          <p:cNvSpPr/>
          <p:nvPr/>
        </p:nvSpPr>
        <p:spPr>
          <a:xfrm>
            <a:off x="8054340" y="3028950"/>
            <a:ext cx="6652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1260" dirty="0"/>
          </a:p>
        </p:txBody>
      </p:sp>
      <p:sp>
        <p:nvSpPr>
          <p:cNvPr id="33" name="ps:s10-liquidity-resources-claims-cell-0-1:rule"/>
          <p:cNvSpPr/>
          <p:nvPr/>
        </p:nvSpPr>
        <p:spPr>
          <a:xfrm>
            <a:off x="7940040" y="3505200"/>
            <a:ext cx="81762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0-liquidity-resources-claims:cell-text:0:2:0"/>
          <p:cNvSpPr/>
          <p:nvPr/>
        </p:nvSpPr>
        <p:spPr>
          <a:xfrm>
            <a:off x="8948166" y="3028950"/>
            <a:ext cx="255803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55.911 + debt 99.500;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all equity.</a:t>
            </a:r>
            <a:endParaRPr lang="en-US" sz="1260" dirty="0"/>
          </a:p>
        </p:txBody>
      </p:sp>
      <p:sp>
        <p:nvSpPr>
          <p:cNvPr id="35" name="ps:s10-liquidity-resources-claims-cell-0-2:rule"/>
          <p:cNvSpPr/>
          <p:nvPr/>
        </p:nvSpPr>
        <p:spPr>
          <a:xfrm>
            <a:off x="8833866" y="3505200"/>
            <a:ext cx="271043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0-liquidity-resources-claims:cell:1:0"/>
          <p:cNvSpPr/>
          <p:nvPr/>
        </p:nvSpPr>
        <p:spPr>
          <a:xfrm>
            <a:off x="6362700" y="3543300"/>
            <a:ext cx="15011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ps:s10-liquidity-resources-claims:cell-text:1:0:0"/>
          <p:cNvSpPr/>
          <p:nvPr/>
        </p:nvSpPr>
        <p:spPr>
          <a:xfrm>
            <a:off x="6477000" y="3709988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equity</a:t>
            </a:r>
            <a:endParaRPr lang="en-US" sz="1260" dirty="0"/>
          </a:p>
        </p:txBody>
      </p:sp>
      <p:sp>
        <p:nvSpPr>
          <p:cNvPr id="38" name="ps:s10-liquidity-resources-claims-cell-1-0:rule"/>
          <p:cNvSpPr/>
          <p:nvPr/>
        </p:nvSpPr>
        <p:spPr>
          <a:xfrm>
            <a:off x="6362700" y="4276725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0-liquidity-resources-claims:cell-text:1:1:0"/>
          <p:cNvSpPr/>
          <p:nvPr/>
        </p:nvSpPr>
        <p:spPr>
          <a:xfrm>
            <a:off x="8054340" y="3619500"/>
            <a:ext cx="6652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</a:t>
            </a:r>
            <a:endParaRPr lang="en-US" sz="1260" dirty="0"/>
          </a:p>
        </p:txBody>
      </p:sp>
      <p:sp>
        <p:nvSpPr>
          <p:cNvPr id="40" name="ps:s10-liquidity-resources-claims-cell-1-1:rule"/>
          <p:cNvSpPr/>
          <p:nvPr/>
        </p:nvSpPr>
        <p:spPr>
          <a:xfrm>
            <a:off x="7940040" y="4276725"/>
            <a:ext cx="81762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0-liquidity-resources-claims:cell-text:1:2:0"/>
          <p:cNvSpPr/>
          <p:nvPr/>
        </p:nvSpPr>
        <p:spPr>
          <a:xfrm>
            <a:off x="8948166" y="3619500"/>
            <a:ext cx="2558034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14.126 more restricted through Q3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is noncurrent; other current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(7.063) is unassessed.</a:t>
            </a:r>
            <a:endParaRPr lang="en-US" sz="1260" dirty="0"/>
          </a:p>
        </p:txBody>
      </p:sp>
      <p:sp>
        <p:nvSpPr>
          <p:cNvPr id="42" name="ps:s10-liquidity-resources-claims-cell-1-2:rule"/>
          <p:cNvSpPr/>
          <p:nvPr/>
        </p:nvSpPr>
        <p:spPr>
          <a:xfrm>
            <a:off x="8833866" y="4276725"/>
            <a:ext cx="271043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3" name="ps:s10-liquidity-resources-claims:cell:2:0"/>
          <p:cNvSpPr/>
          <p:nvPr/>
        </p:nvSpPr>
        <p:spPr>
          <a:xfrm>
            <a:off x="6362700" y="4314825"/>
            <a:ext cx="15011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ps:s10-liquidity-resources-claims:cell-text:2:0:0"/>
          <p:cNvSpPr/>
          <p:nvPr/>
        </p:nvSpPr>
        <p:spPr>
          <a:xfrm>
            <a:off x="6477000" y="4481513"/>
            <a:ext cx="13487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face value</a:t>
            </a:r>
            <a:endParaRPr lang="en-US" sz="1260" dirty="0"/>
          </a:p>
        </p:txBody>
      </p:sp>
      <p:sp>
        <p:nvSpPr>
          <p:cNvPr id="45" name="ps:s10-liquidity-resources-claims-cell-2-0:rule"/>
          <p:cNvSpPr/>
          <p:nvPr/>
        </p:nvSpPr>
        <p:spPr>
          <a:xfrm>
            <a:off x="6362700" y="4867275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0-liquidity-resources-claims:cell-text:2:1:0"/>
          <p:cNvSpPr/>
          <p:nvPr/>
        </p:nvSpPr>
        <p:spPr>
          <a:xfrm>
            <a:off x="8054340" y="4391025"/>
            <a:ext cx="6652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101.085</a:t>
            </a:r>
            <a:endParaRPr lang="en-US" sz="1260" dirty="0"/>
          </a:p>
        </p:txBody>
      </p:sp>
      <p:sp>
        <p:nvSpPr>
          <p:cNvPr id="47" name="ps:s10-liquidity-resources-claims-cell-2-1:rule"/>
          <p:cNvSpPr/>
          <p:nvPr/>
        </p:nvSpPr>
        <p:spPr>
          <a:xfrm>
            <a:off x="7940040" y="4867275"/>
            <a:ext cx="81762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8" name="ps:s10-liquidity-resources-claims:cell-text:2:2:0"/>
          <p:cNvSpPr/>
          <p:nvPr/>
        </p:nvSpPr>
        <p:spPr>
          <a:xfrm>
            <a:off x="8948166" y="4391025"/>
            <a:ext cx="255803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finance leases and other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claims.</a:t>
            </a:r>
            <a:endParaRPr lang="en-US" sz="1260" dirty="0"/>
          </a:p>
        </p:txBody>
      </p:sp>
      <p:sp>
        <p:nvSpPr>
          <p:cNvPr id="49" name="ps:s10-liquidity-resources-claims-cell-2-2:rule"/>
          <p:cNvSpPr/>
          <p:nvPr/>
        </p:nvSpPr>
        <p:spPr>
          <a:xfrm>
            <a:off x="8833866" y="4867275"/>
            <a:ext cx="271043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0" name="ps:s10-liquidity-resources-claims:cell:3:0"/>
          <p:cNvSpPr/>
          <p:nvPr/>
        </p:nvSpPr>
        <p:spPr>
          <a:xfrm>
            <a:off x="6362700" y="4905375"/>
            <a:ext cx="15011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ps:s10-liquidity-resources-claims:cell-text:3:0:0"/>
          <p:cNvSpPr/>
          <p:nvPr/>
        </p:nvSpPr>
        <p:spPr>
          <a:xfrm>
            <a:off x="6477000" y="4981575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proxy</a:t>
            </a:r>
            <a:endParaRPr lang="en-US" sz="1260" dirty="0"/>
          </a:p>
        </p:txBody>
      </p:sp>
      <p:sp>
        <p:nvSpPr>
          <p:cNvPr id="52" name="ps:s10-liquidity-resources-claims:cell-text:3:1:0"/>
          <p:cNvSpPr/>
          <p:nvPr/>
        </p:nvSpPr>
        <p:spPr>
          <a:xfrm>
            <a:off x="8054340" y="4981575"/>
            <a:ext cx="6652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19.250</a:t>
            </a:r>
            <a:endParaRPr lang="en-US" sz="1260" dirty="0"/>
          </a:p>
        </p:txBody>
      </p:sp>
      <p:sp>
        <p:nvSpPr>
          <p:cNvPr id="53" name="ps:s10-liquidity-resources-claims:cell-text:3:2:0"/>
          <p:cNvSpPr/>
          <p:nvPr/>
        </p:nvSpPr>
        <p:spPr>
          <a:xfrm>
            <a:off x="8948166" y="4981575"/>
            <a:ext cx="255803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conversion proxy; no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redemption.</a:t>
            </a:r>
            <a:endParaRPr lang="en-US" sz="1260" dirty="0"/>
          </a:p>
        </p:txBody>
      </p:sp>
      <p:sp>
        <p:nvSpPr>
          <p:cNvPr id="54" name="ps:s10-liquidity-spending-constraint:surface"/>
          <p:cNvSpPr/>
          <p:nvPr/>
        </p:nvSpPr>
        <p:spPr>
          <a:xfrm>
            <a:off x="6362700" y="5610225"/>
            <a:ext cx="52578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ps:s10-liquidity-spending-constraint:body"/>
          <p:cNvSpPr/>
          <p:nvPr/>
        </p:nvSpPr>
        <p:spPr>
          <a:xfrm>
            <a:off x="6591300" y="5762625"/>
            <a:ext cx="4800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classification does not establish spendability: restricted</a:t>
            </a:r>
            <a:endParaRPr lang="en-US" sz="1260" dirty="0"/>
          </a:p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shares cannot fund near-term capex.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1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financing expanded resources, but added claims and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keep marginal-return evidence essential</a:t>
            </a:r>
            <a:endParaRPr lang="en-US" sz="2700" dirty="0"/>
          </a:p>
        </p:txBody>
      </p:sp>
      <p:sp>
        <p:nvSpPr>
          <p:cNvPr id="3" name="ps:s11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20" dirty="0"/>
          </a:p>
        </p:txBody>
      </p:sp>
      <p:sp>
        <p:nvSpPr>
          <p:cNvPr id="4" name="ps:s11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11-funding-ownership:header-text:0"/>
          <p:cNvSpPr/>
          <p:nvPr/>
        </p:nvSpPr>
        <p:spPr>
          <a:xfrm>
            <a:off x="685800" y="1885950"/>
            <a:ext cx="15392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60" dirty="0"/>
          </a:p>
        </p:txBody>
      </p:sp>
      <p:sp>
        <p:nvSpPr>
          <p:cNvPr id="6" name="ps:s11-funding-ownership:header-rule:0"/>
          <p:cNvSpPr/>
          <p:nvPr/>
        </p:nvSpPr>
        <p:spPr>
          <a:xfrm>
            <a:off x="571500" y="2181225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1-funding-ownership:header-text:1"/>
          <p:cNvSpPr/>
          <p:nvPr/>
        </p:nvSpPr>
        <p:spPr>
          <a:xfrm>
            <a:off x="2453640" y="1885950"/>
            <a:ext cx="42462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evidence</a:t>
            </a:r>
            <a:endParaRPr lang="en-US" sz="1260" dirty="0"/>
          </a:p>
        </p:txBody>
      </p:sp>
      <p:sp>
        <p:nvSpPr>
          <p:cNvPr id="8" name="ps:s11-funding-ownership:header-rule:1"/>
          <p:cNvSpPr/>
          <p:nvPr/>
        </p:nvSpPr>
        <p:spPr>
          <a:xfrm>
            <a:off x="2339340" y="2181225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1-funding-ownership:header-text:3"/>
          <p:cNvSpPr/>
          <p:nvPr/>
        </p:nvSpPr>
        <p:spPr>
          <a:xfrm>
            <a:off x="7536180" y="1885950"/>
            <a:ext cx="39700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consequence</a:t>
            </a:r>
            <a:endParaRPr lang="en-US" sz="1260" dirty="0"/>
          </a:p>
        </p:txBody>
      </p:sp>
      <p:sp>
        <p:nvSpPr>
          <p:cNvPr id="10" name="ps:s11-funding-ownership:header-rule:3"/>
          <p:cNvSpPr/>
          <p:nvPr/>
        </p:nvSpPr>
        <p:spPr>
          <a:xfrm>
            <a:off x="7421880" y="2181225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1-funding-ownership:cell:0:0"/>
          <p:cNvSpPr/>
          <p:nvPr/>
        </p:nvSpPr>
        <p:spPr>
          <a:xfrm>
            <a:off x="571500" y="2219325"/>
            <a:ext cx="16916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1-funding-ownership:cell-text:0:0:0"/>
          <p:cNvSpPr/>
          <p:nvPr/>
        </p:nvSpPr>
        <p:spPr>
          <a:xfrm>
            <a:off x="685800" y="2476500"/>
            <a:ext cx="15392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funding</a:t>
            </a:r>
            <a:endParaRPr lang="en-US" sz="1260" dirty="0"/>
          </a:p>
        </p:txBody>
      </p:sp>
      <p:sp>
        <p:nvSpPr>
          <p:cNvPr id="13" name="ps:s11-funding-ownership-cell-0-0:rule"/>
          <p:cNvSpPr/>
          <p:nvPr/>
        </p:nvSpPr>
        <p:spPr>
          <a:xfrm>
            <a:off x="571500" y="2952750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1-funding-ownership:cell-text:0:1:0"/>
          <p:cNvSpPr/>
          <p:nvPr/>
        </p:nvSpPr>
        <p:spPr>
          <a:xfrm>
            <a:off x="2453640" y="2295525"/>
            <a:ext cx="424624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common/preferred proceeds were $49.6bn; net debt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was $51.0bn; no shares were repurchased.</a:t>
            </a:r>
            <a:endParaRPr lang="en-US" sz="1260" dirty="0"/>
          </a:p>
        </p:txBody>
      </p:sp>
      <p:sp>
        <p:nvSpPr>
          <p:cNvPr id="15" name="ps:s11-funding-ownership-cell-0-1:rule"/>
          <p:cNvSpPr/>
          <p:nvPr/>
        </p:nvSpPr>
        <p:spPr>
          <a:xfrm>
            <a:off x="2339340" y="2952750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1-funding-ownership-cell-0-2:arrow:0"/>
          <p:cNvSpPr/>
          <p:nvPr/>
        </p:nvSpPr>
        <p:spPr>
          <a:xfrm>
            <a:off x="7003733" y="2452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ps:s11-funding-ownership-cell-0-2:arrow:1"/>
          <p:cNvSpPr/>
          <p:nvPr/>
        </p:nvSpPr>
        <p:spPr>
          <a:xfrm>
            <a:off x="7092887" y="2514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ps:s11-funding-ownership-cell-0-2:arrow:2"/>
          <p:cNvSpPr/>
          <p:nvPr/>
        </p:nvSpPr>
        <p:spPr>
          <a:xfrm flipH="1">
            <a:off x="7092887" y="2566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ps:s11-funding-ownership:cell-text:0:3:0"/>
          <p:cNvSpPr/>
          <p:nvPr/>
        </p:nvSpPr>
        <p:spPr>
          <a:xfrm>
            <a:off x="7536180" y="2295525"/>
            <a:ext cx="39700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Proceeds added funding capacity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common/preferred/debt claims. A buyback-driven EPS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is not assumed.</a:t>
            </a:r>
            <a:endParaRPr lang="en-US" sz="1260" dirty="0"/>
          </a:p>
        </p:txBody>
      </p:sp>
      <p:sp>
        <p:nvSpPr>
          <p:cNvPr id="20" name="ps:s11-funding-ownership-cell-0-3:rule"/>
          <p:cNvSpPr/>
          <p:nvPr/>
        </p:nvSpPr>
        <p:spPr>
          <a:xfrm>
            <a:off x="7421880" y="2952750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1-funding-ownership:cell:1:0"/>
          <p:cNvSpPr/>
          <p:nvPr/>
        </p:nvSpPr>
        <p:spPr>
          <a:xfrm>
            <a:off x="571500" y="2990850"/>
            <a:ext cx="16916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ps:s11-funding-ownership:cell-text:1:0:0"/>
          <p:cNvSpPr/>
          <p:nvPr/>
        </p:nvSpPr>
        <p:spPr>
          <a:xfrm>
            <a:off x="685800" y="3157538"/>
            <a:ext cx="15392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1260" dirty="0"/>
          </a:p>
        </p:txBody>
      </p:sp>
      <p:sp>
        <p:nvSpPr>
          <p:cNvPr id="23" name="ps:s11-funding-ownership-cell-1-0:rule"/>
          <p:cNvSpPr/>
          <p:nvPr/>
        </p:nvSpPr>
        <p:spPr>
          <a:xfrm>
            <a:off x="571500" y="3724275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11-funding-ownership:cell-text:1:1:0"/>
          <p:cNvSpPr/>
          <p:nvPr/>
        </p:nvSpPr>
        <p:spPr>
          <a:xfrm>
            <a:off x="2453640" y="3067050"/>
            <a:ext cx="424624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Contractual and purchase obligations total $811.0bn,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$200.7bn short term; the $707.0bn long-term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is not additional.</a:t>
            </a:r>
            <a:endParaRPr lang="en-US" sz="1260" dirty="0"/>
          </a:p>
        </p:txBody>
      </p:sp>
      <p:sp>
        <p:nvSpPr>
          <p:cNvPr id="25" name="ps:s11-funding-ownership-cell-1-1:rule"/>
          <p:cNvSpPr/>
          <p:nvPr/>
        </p:nvSpPr>
        <p:spPr>
          <a:xfrm>
            <a:off x="2339340" y="3724275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6" name="ps:s11-funding-ownership-cell-1-2:arrow:0"/>
          <p:cNvSpPr/>
          <p:nvPr/>
        </p:nvSpPr>
        <p:spPr>
          <a:xfrm>
            <a:off x="7003733" y="322421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ps:s11-funding-ownership-cell-1-2:arrow:1"/>
          <p:cNvSpPr/>
          <p:nvPr/>
        </p:nvSpPr>
        <p:spPr>
          <a:xfrm>
            <a:off x="7092887" y="328593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ps:s11-funding-ownership-cell-1-2:arrow:2"/>
          <p:cNvSpPr/>
          <p:nvPr/>
        </p:nvSpPr>
        <p:spPr>
          <a:xfrm flipH="1">
            <a:off x="7092887" y="3338513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ps:s11-funding-ownership:cell-text:1:3:0"/>
          <p:cNvSpPr/>
          <p:nvPr/>
        </p:nvSpPr>
        <p:spPr>
          <a:xfrm>
            <a:off x="7536180" y="3067050"/>
            <a:ext cx="39700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receipts and liquid resources must cover future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inputs and capex. The total is not all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debt or incremental to modeled spending.</a:t>
            </a:r>
            <a:endParaRPr lang="en-US" sz="1260" dirty="0"/>
          </a:p>
        </p:txBody>
      </p:sp>
      <p:sp>
        <p:nvSpPr>
          <p:cNvPr id="30" name="ps:s11-funding-ownership-cell-1-3:rule"/>
          <p:cNvSpPr/>
          <p:nvPr/>
        </p:nvSpPr>
        <p:spPr>
          <a:xfrm>
            <a:off x="7421880" y="3724275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1-funding-ownership:cell:2:0"/>
          <p:cNvSpPr/>
          <p:nvPr/>
        </p:nvSpPr>
        <p:spPr>
          <a:xfrm>
            <a:off x="571500" y="3762375"/>
            <a:ext cx="16916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ps:s11-funding-ownership:cell-text:2:0:0"/>
          <p:cNvSpPr/>
          <p:nvPr/>
        </p:nvSpPr>
        <p:spPr>
          <a:xfrm>
            <a:off x="685800" y="3929063"/>
            <a:ext cx="15392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Common-share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260" dirty="0"/>
          </a:p>
        </p:txBody>
      </p:sp>
      <p:sp>
        <p:nvSpPr>
          <p:cNvPr id="33" name="ps:s11-funding-ownership-cell-2-0:rule"/>
          <p:cNvSpPr/>
          <p:nvPr/>
        </p:nvSpPr>
        <p:spPr>
          <a:xfrm>
            <a:off x="571500" y="4495800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1-funding-ownership:cell-text:2:1:0"/>
          <p:cNvSpPr/>
          <p:nvPr/>
        </p:nvSpPr>
        <p:spPr>
          <a:xfrm>
            <a:off x="2453640" y="3838575"/>
            <a:ext cx="424624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$40.0bn ATM capacity was unused at June; preferred stock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in 2029; H1 award-related cash payments were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$12.1bn.</a:t>
            </a:r>
            <a:endParaRPr lang="en-US" sz="1260" dirty="0"/>
          </a:p>
        </p:txBody>
      </p:sp>
      <p:sp>
        <p:nvSpPr>
          <p:cNvPr id="35" name="ps:s11-funding-ownership-cell-2-1:rule"/>
          <p:cNvSpPr/>
          <p:nvPr/>
        </p:nvSpPr>
        <p:spPr>
          <a:xfrm>
            <a:off x="2339340" y="4495800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1-funding-ownership-cell-2-2:arrow:0"/>
          <p:cNvSpPr/>
          <p:nvPr/>
        </p:nvSpPr>
        <p:spPr>
          <a:xfrm>
            <a:off x="7003733" y="399573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ps:s11-funding-ownership-cell-2-2:arrow:1"/>
          <p:cNvSpPr/>
          <p:nvPr/>
        </p:nvSpPr>
        <p:spPr>
          <a:xfrm>
            <a:off x="7092887" y="405746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8" name="ps:s11-funding-ownership-cell-2-2:arrow:2"/>
          <p:cNvSpPr/>
          <p:nvPr/>
        </p:nvSpPr>
        <p:spPr>
          <a:xfrm flipH="1">
            <a:off x="7092887" y="411003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9" name="ps:s11-funding-ownership:cell-text:2:3:0"/>
          <p:cNvSpPr/>
          <p:nvPr/>
        </p:nvSpPr>
        <p:spPr>
          <a:xfrm>
            <a:off x="7536180" y="3838575"/>
            <a:ext cx="39700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 not cash, and future issuance can dilute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holders. The model retains economic SBC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assuming repurchases.</a:t>
            </a:r>
            <a:endParaRPr lang="en-US" sz="1260" dirty="0"/>
          </a:p>
        </p:txBody>
      </p:sp>
      <p:sp>
        <p:nvSpPr>
          <p:cNvPr id="40" name="ps:s11-funding-ownership-cell-2-3:rule"/>
          <p:cNvSpPr/>
          <p:nvPr/>
        </p:nvSpPr>
        <p:spPr>
          <a:xfrm>
            <a:off x="7421880" y="4495800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1-funding-ownership:cell:3:0"/>
          <p:cNvSpPr/>
          <p:nvPr/>
        </p:nvSpPr>
        <p:spPr>
          <a:xfrm>
            <a:off x="571500" y="4533900"/>
            <a:ext cx="16916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ps:s11-funding-ownership:cell-text:3:0:0"/>
          <p:cNvSpPr/>
          <p:nvPr/>
        </p:nvSpPr>
        <p:spPr>
          <a:xfrm>
            <a:off x="685800" y="4700588"/>
            <a:ext cx="15392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Contingent claims</a:t>
            </a:r>
            <a:endParaRPr lang="en-US" sz="1260" dirty="0"/>
          </a:p>
        </p:txBody>
      </p:sp>
      <p:sp>
        <p:nvSpPr>
          <p:cNvPr id="43" name="ps:s11-funding-ownership:cell-text:3:1:0"/>
          <p:cNvSpPr/>
          <p:nvPr/>
        </p:nvSpPr>
        <p:spPr>
          <a:xfrm>
            <a:off x="2453640" y="4610100"/>
            <a:ext cx="424624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and credit backstops create separate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exposure; maxima are not expected losses.</a:t>
            </a:r>
            <a:endParaRPr lang="en-US" sz="1260" dirty="0"/>
          </a:p>
        </p:txBody>
      </p:sp>
      <p:sp>
        <p:nvSpPr>
          <p:cNvPr id="44" name="ps:s11-funding-ownership-cell-3-2:arrow:0"/>
          <p:cNvSpPr/>
          <p:nvPr/>
        </p:nvSpPr>
        <p:spPr>
          <a:xfrm>
            <a:off x="7003733" y="4676775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ps:s11-funding-ownership-cell-3-2:arrow:1"/>
          <p:cNvSpPr/>
          <p:nvPr/>
        </p:nvSpPr>
        <p:spPr>
          <a:xfrm>
            <a:off x="7092887" y="4738497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ps:s11-funding-ownership-cell-3-2:arrow:2"/>
          <p:cNvSpPr/>
          <p:nvPr/>
        </p:nvSpPr>
        <p:spPr>
          <a:xfrm flipH="1">
            <a:off x="7092887" y="479107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ps:s11-funding-ownership:cell-text:3:3:0"/>
          <p:cNvSpPr/>
          <p:nvPr/>
        </p:nvSpPr>
        <p:spPr>
          <a:xfrm>
            <a:off x="7536180" y="4610100"/>
            <a:ext cx="39700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reserves and overlap controls in the equity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bridge; no post-June issuance is assumed.</a:t>
            </a:r>
            <a:endParaRPr lang="en-US" sz="12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2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case needs cash recovery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after Cloud grows to $419 billion</a:t>
            </a:r>
            <a:endParaRPr lang="en-US" sz="2700" dirty="0"/>
          </a:p>
        </p:txBody>
      </p:sp>
      <p:sp>
        <p:nvSpPr>
          <p:cNvPr id="3" name="ps:s12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20" dirty="0"/>
          </a:p>
        </p:txBody>
      </p:sp>
      <p:sp>
        <p:nvSpPr>
          <p:cNvPr id="4" name="ps:s12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2-reference-fcff-heading:heading"/>
          <p:cNvSpPr/>
          <p:nvPr/>
        </p:nvSpPr>
        <p:spPr>
          <a:xfrm>
            <a:off x="571500" y="1771650"/>
            <a:ext cx="1819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cash flow,</a:t>
            </a:r>
            <a:endParaRPr lang="en-US" sz="1440" dirty="0"/>
          </a:p>
        </p:txBody>
      </p:sp>
      <p:sp>
        <p:nvSpPr>
          <p:cNvPr id="6" name="ps:s12-reference-fcff-heading:unit"/>
          <p:cNvSpPr/>
          <p:nvPr/>
        </p:nvSpPr>
        <p:spPr>
          <a:xfrm>
            <a:off x="2390775" y="1771650"/>
            <a:ext cx="34385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bn; illustrative analyst scenario</a:t>
            </a:r>
            <a:endParaRPr lang="en-US" sz="1440" dirty="0"/>
          </a:p>
        </p:txBody>
      </p:sp>
      <p:sp>
        <p:nvSpPr>
          <p:cNvPr id="7" name="ps:s12-reference-fcff-heading:rule"/>
          <p:cNvSpPr/>
          <p:nvPr/>
        </p:nvSpPr>
        <p:spPr>
          <a:xfrm>
            <a:off x="5715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2-reference-fcff:axis-label:0"/>
          <p:cNvSpPr/>
          <p:nvPr/>
        </p:nvSpPr>
        <p:spPr>
          <a:xfrm>
            <a:off x="552450" y="56007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</a:t>
            </a:r>
            <a:endParaRPr lang="en-US" sz="1260" dirty="0"/>
          </a:p>
        </p:txBody>
      </p:sp>
      <p:sp>
        <p:nvSpPr>
          <p:cNvPr id="9" name="ps:s12-reference-fcff:axis-label:1"/>
          <p:cNvSpPr/>
          <p:nvPr/>
        </p:nvSpPr>
        <p:spPr>
          <a:xfrm>
            <a:off x="552450" y="47815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60" dirty="0"/>
          </a:p>
        </p:txBody>
      </p:sp>
      <p:sp>
        <p:nvSpPr>
          <p:cNvPr id="10" name="ps:s12-reference-fcff:axis-label:2"/>
          <p:cNvSpPr/>
          <p:nvPr/>
        </p:nvSpPr>
        <p:spPr>
          <a:xfrm>
            <a:off x="552450" y="3962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60" dirty="0"/>
          </a:p>
        </p:txBody>
      </p:sp>
      <p:sp>
        <p:nvSpPr>
          <p:cNvPr id="11" name="ps:s12-reference-fcff:axis-label:3"/>
          <p:cNvSpPr/>
          <p:nvPr/>
        </p:nvSpPr>
        <p:spPr>
          <a:xfrm>
            <a:off x="552450" y="31432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260" dirty="0"/>
          </a:p>
        </p:txBody>
      </p:sp>
      <p:sp>
        <p:nvSpPr>
          <p:cNvPr id="12" name="ps:s12-reference-fcff:axis-label:4"/>
          <p:cNvSpPr/>
          <p:nvPr/>
        </p:nvSpPr>
        <p:spPr>
          <a:xfrm>
            <a:off x="552450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260" dirty="0"/>
          </a:p>
        </p:txBody>
      </p:sp>
      <p:sp>
        <p:nvSpPr>
          <p:cNvPr id="13" name="ps:s12-reference-fcff:y-axis"/>
          <p:cNvSpPr/>
          <p:nvPr/>
        </p:nvSpPr>
        <p:spPr>
          <a:xfrm>
            <a:off x="1085850" y="2438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ps:s12-reference-fcff:x-axis"/>
          <p:cNvSpPr/>
          <p:nvPr/>
        </p:nvSpPr>
        <p:spPr>
          <a:xfrm>
            <a:off x="1085850" y="5715000"/>
            <a:ext cx="4591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ps:s12-reference-fcff:zero-baseline"/>
          <p:cNvSpPr/>
          <p:nvPr/>
        </p:nvSpPr>
        <p:spPr>
          <a:xfrm>
            <a:off x="1085850" y="5012872"/>
            <a:ext cx="4591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6" name="ps:s12-reference-fcff:series:fcff:sep-2027"/>
          <p:cNvSpPr/>
          <p:nvPr/>
        </p:nvSpPr>
        <p:spPr>
          <a:xfrm>
            <a:off x="1223582" y="5012872"/>
            <a:ext cx="604647" cy="46542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ps:s12-reference-fcff:value-label:fcff:sep-2027"/>
          <p:cNvSpPr/>
          <p:nvPr/>
        </p:nvSpPr>
        <p:spPr>
          <a:xfrm>
            <a:off x="1128331" y="5486400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-39.8</a:t>
            </a:r>
            <a:endParaRPr lang="en-US" sz="1260" dirty="0"/>
          </a:p>
        </p:txBody>
      </p:sp>
      <p:sp>
        <p:nvSpPr>
          <p:cNvPr id="18" name="ps:s12-reference-fcff:category:sep-2027"/>
          <p:cNvSpPr/>
          <p:nvPr/>
        </p:nvSpPr>
        <p:spPr>
          <a:xfrm>
            <a:off x="1147382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260" dirty="0"/>
          </a:p>
        </p:txBody>
      </p:sp>
      <p:sp>
        <p:nvSpPr>
          <p:cNvPr id="19" name="ps:s12-reference-fcff:series:fcff:sep-2028"/>
          <p:cNvSpPr/>
          <p:nvPr/>
        </p:nvSpPr>
        <p:spPr>
          <a:xfrm>
            <a:off x="2141792" y="4963560"/>
            <a:ext cx="604647" cy="49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ps:s12-reference-fcff:value-label:fcff:sep-2028"/>
          <p:cNvSpPr/>
          <p:nvPr/>
        </p:nvSpPr>
        <p:spPr>
          <a:xfrm>
            <a:off x="2046542" y="4715909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260" dirty="0"/>
          </a:p>
        </p:txBody>
      </p:sp>
      <p:sp>
        <p:nvSpPr>
          <p:cNvPr id="21" name="ps:s12-reference-fcff:category:sep-2028"/>
          <p:cNvSpPr/>
          <p:nvPr/>
        </p:nvSpPr>
        <p:spPr>
          <a:xfrm>
            <a:off x="2065591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2028</a:t>
            </a:r>
            <a:endParaRPr lang="en-US" sz="1260" dirty="0"/>
          </a:p>
        </p:txBody>
      </p:sp>
      <p:sp>
        <p:nvSpPr>
          <p:cNvPr id="22" name="ps:s12-reference-fcff:series:fcff:sep-2029"/>
          <p:cNvSpPr/>
          <p:nvPr/>
        </p:nvSpPr>
        <p:spPr>
          <a:xfrm>
            <a:off x="3060001" y="4253322"/>
            <a:ext cx="604647" cy="7595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ps:s12-reference-fcff:value-label:fcff:sep-2029"/>
          <p:cNvSpPr/>
          <p:nvPr/>
        </p:nvSpPr>
        <p:spPr>
          <a:xfrm>
            <a:off x="2964752" y="4005671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64.9</a:t>
            </a:r>
            <a:endParaRPr lang="en-US" sz="1260" dirty="0"/>
          </a:p>
        </p:txBody>
      </p:sp>
      <p:sp>
        <p:nvSpPr>
          <p:cNvPr id="24" name="ps:s12-reference-fcff:category:sep-2029"/>
          <p:cNvSpPr/>
          <p:nvPr/>
        </p:nvSpPr>
        <p:spPr>
          <a:xfrm>
            <a:off x="2983802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2029</a:t>
            </a:r>
            <a:endParaRPr lang="en-US" sz="1260" dirty="0"/>
          </a:p>
        </p:txBody>
      </p:sp>
      <p:sp>
        <p:nvSpPr>
          <p:cNvPr id="25" name="ps:s12-reference-fcff:series:fcff:sep-2030"/>
          <p:cNvSpPr/>
          <p:nvPr/>
        </p:nvSpPr>
        <p:spPr>
          <a:xfrm>
            <a:off x="3978212" y="3437874"/>
            <a:ext cx="604647" cy="157499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ps:s12-reference-fcff:value-label:fcff:sep-2030"/>
          <p:cNvSpPr/>
          <p:nvPr/>
        </p:nvSpPr>
        <p:spPr>
          <a:xfrm>
            <a:off x="3882961" y="3190225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134.6</a:t>
            </a:r>
            <a:endParaRPr lang="en-US" sz="1260" dirty="0"/>
          </a:p>
        </p:txBody>
      </p:sp>
      <p:sp>
        <p:nvSpPr>
          <p:cNvPr id="27" name="ps:s12-reference-fcff:category:sep-2030"/>
          <p:cNvSpPr/>
          <p:nvPr/>
        </p:nvSpPr>
        <p:spPr>
          <a:xfrm>
            <a:off x="3902012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2030</a:t>
            </a:r>
            <a:endParaRPr lang="en-US" sz="1260" dirty="0"/>
          </a:p>
        </p:txBody>
      </p:sp>
      <p:sp>
        <p:nvSpPr>
          <p:cNvPr id="28" name="ps:s12-reference-fcff:series:fcff:sep-2031"/>
          <p:cNvSpPr/>
          <p:nvPr/>
        </p:nvSpPr>
        <p:spPr>
          <a:xfrm>
            <a:off x="4896422" y="2644602"/>
            <a:ext cx="604647" cy="23682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9" name="ps:s12-reference-fcff:value-label:fcff:sep-2031"/>
          <p:cNvSpPr/>
          <p:nvPr/>
        </p:nvSpPr>
        <p:spPr>
          <a:xfrm>
            <a:off x="4801172" y="2396952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202.4</a:t>
            </a:r>
            <a:endParaRPr lang="en-US" sz="1260" dirty="0"/>
          </a:p>
        </p:txBody>
      </p:sp>
      <p:sp>
        <p:nvSpPr>
          <p:cNvPr id="30" name="ps:s12-reference-fcff:category:sep-2031"/>
          <p:cNvSpPr/>
          <p:nvPr/>
        </p:nvSpPr>
        <p:spPr>
          <a:xfrm>
            <a:off x="4820221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2031</a:t>
            </a:r>
            <a:endParaRPr lang="en-US" sz="1260" dirty="0"/>
          </a:p>
        </p:txBody>
      </p:sp>
      <p:sp>
        <p:nvSpPr>
          <p:cNvPr id="31" name="ps:s12-reference-related-context:separator"/>
          <p:cNvSpPr/>
          <p:nvPr/>
        </p:nvSpPr>
        <p:spPr>
          <a:xfrm>
            <a:off x="60960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32" name="ps:s12-s12-table-title:heading"/>
          <p:cNvSpPr/>
          <p:nvPr/>
        </p:nvSpPr>
        <p:spPr>
          <a:xfrm>
            <a:off x="6362700" y="1771650"/>
            <a:ext cx="5257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scenario drivers</a:t>
            </a:r>
            <a:endParaRPr lang="en-US" sz="1440" dirty="0"/>
          </a:p>
        </p:txBody>
      </p:sp>
      <p:sp>
        <p:nvSpPr>
          <p:cNvPr id="33" name="ps:s12-s12-table-title:rule"/>
          <p:cNvSpPr/>
          <p:nvPr/>
        </p:nvSpPr>
        <p:spPr>
          <a:xfrm>
            <a:off x="63627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4" name="ps:s12-reference-drivers:header-text:0"/>
          <p:cNvSpPr/>
          <p:nvPr/>
        </p:nvSpPr>
        <p:spPr>
          <a:xfrm>
            <a:off x="6477000" y="2438400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end</a:t>
            </a:r>
            <a:endParaRPr lang="en-US" sz="1260" dirty="0"/>
          </a:p>
        </p:txBody>
      </p:sp>
      <p:sp>
        <p:nvSpPr>
          <p:cNvPr id="35" name="ps:s12-reference-drivers:header-rule:0"/>
          <p:cNvSpPr/>
          <p:nvPr/>
        </p:nvSpPr>
        <p:spPr>
          <a:xfrm>
            <a:off x="6362700" y="273367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2-reference-drivers:header-text:1"/>
          <p:cNvSpPr/>
          <p:nvPr/>
        </p:nvSpPr>
        <p:spPr>
          <a:xfrm>
            <a:off x="8264652" y="2438400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/ sales</a:t>
            </a:r>
            <a:endParaRPr lang="en-US" sz="1260" dirty="0"/>
          </a:p>
        </p:txBody>
      </p:sp>
      <p:sp>
        <p:nvSpPr>
          <p:cNvPr id="37" name="ps:s12-reference-drivers:header-rule:1"/>
          <p:cNvSpPr/>
          <p:nvPr/>
        </p:nvSpPr>
        <p:spPr>
          <a:xfrm>
            <a:off x="8150352" y="27336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8" name="ps:s12-reference-drivers:header-text:2"/>
          <p:cNvSpPr/>
          <p:nvPr/>
        </p:nvSpPr>
        <p:spPr>
          <a:xfrm>
            <a:off x="9999726" y="2438400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USD bn</a:t>
            </a:r>
            <a:endParaRPr lang="en-US" sz="1260" dirty="0"/>
          </a:p>
        </p:txBody>
      </p:sp>
      <p:sp>
        <p:nvSpPr>
          <p:cNvPr id="39" name="ps:s12-reference-drivers:header-rule:2"/>
          <p:cNvSpPr/>
          <p:nvPr/>
        </p:nvSpPr>
        <p:spPr>
          <a:xfrm>
            <a:off x="9885426" y="27336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0" name="ps:s12-reference-drivers:cell:0:0"/>
          <p:cNvSpPr/>
          <p:nvPr/>
        </p:nvSpPr>
        <p:spPr>
          <a:xfrm>
            <a:off x="6362700" y="277177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ps:s12-reference-drivers:cell-text:0:0:0"/>
          <p:cNvSpPr/>
          <p:nvPr/>
        </p:nvSpPr>
        <p:spPr>
          <a:xfrm>
            <a:off x="6477000" y="2871788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260" dirty="0"/>
          </a:p>
        </p:txBody>
      </p:sp>
      <p:sp>
        <p:nvSpPr>
          <p:cNvPr id="42" name="ps:s12-reference-drivers-cell-0-0:rule"/>
          <p:cNvSpPr/>
          <p:nvPr/>
        </p:nvSpPr>
        <p:spPr>
          <a:xfrm>
            <a:off x="6362700" y="319087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3" name="ps:s12-reference-drivers:cell-text:0:1:0"/>
          <p:cNvSpPr/>
          <p:nvPr/>
        </p:nvSpPr>
        <p:spPr>
          <a:xfrm>
            <a:off x="8264652" y="28479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60" dirty="0"/>
          </a:p>
        </p:txBody>
      </p:sp>
      <p:sp>
        <p:nvSpPr>
          <p:cNvPr id="44" name="ps:s12-reference-drivers-cell-0-1:rule"/>
          <p:cNvSpPr/>
          <p:nvPr/>
        </p:nvSpPr>
        <p:spPr>
          <a:xfrm>
            <a:off x="8150352" y="31908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5" name="ps:s12-reference-drivers:cell-text:0:2:0"/>
          <p:cNvSpPr/>
          <p:nvPr/>
        </p:nvSpPr>
        <p:spPr>
          <a:xfrm>
            <a:off x="9999726" y="28479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153.6</a:t>
            </a:r>
            <a:endParaRPr lang="en-US" sz="1260" dirty="0"/>
          </a:p>
        </p:txBody>
      </p:sp>
      <p:sp>
        <p:nvSpPr>
          <p:cNvPr id="46" name="ps:s12-reference-drivers-cell-0-2:rule"/>
          <p:cNvSpPr/>
          <p:nvPr/>
        </p:nvSpPr>
        <p:spPr>
          <a:xfrm>
            <a:off x="9885426" y="31908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7" name="ps:s12-reference-drivers:cell:1:0"/>
          <p:cNvSpPr/>
          <p:nvPr/>
        </p:nvSpPr>
        <p:spPr>
          <a:xfrm>
            <a:off x="6362700" y="322897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ps:s12-reference-drivers:cell-text:1:0:0"/>
          <p:cNvSpPr/>
          <p:nvPr/>
        </p:nvSpPr>
        <p:spPr>
          <a:xfrm>
            <a:off x="6477000" y="3328988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2028</a:t>
            </a:r>
            <a:endParaRPr lang="en-US" sz="1260" dirty="0"/>
          </a:p>
        </p:txBody>
      </p:sp>
      <p:sp>
        <p:nvSpPr>
          <p:cNvPr id="49" name="ps:s12-reference-drivers-cell-1-0:rule"/>
          <p:cNvSpPr/>
          <p:nvPr/>
        </p:nvSpPr>
        <p:spPr>
          <a:xfrm>
            <a:off x="6362700" y="364807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0" name="ps:s12-reference-drivers:cell-text:1:1:0"/>
          <p:cNvSpPr/>
          <p:nvPr/>
        </p:nvSpPr>
        <p:spPr>
          <a:xfrm>
            <a:off x="8264652" y="33051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260" dirty="0"/>
          </a:p>
        </p:txBody>
      </p:sp>
      <p:sp>
        <p:nvSpPr>
          <p:cNvPr id="51" name="ps:s12-reference-drivers-cell-1-1:rule"/>
          <p:cNvSpPr/>
          <p:nvPr/>
        </p:nvSpPr>
        <p:spPr>
          <a:xfrm>
            <a:off x="8150352" y="36480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2" name="ps:s12-reference-drivers:cell-text:1:2:0"/>
          <p:cNvSpPr/>
          <p:nvPr/>
        </p:nvSpPr>
        <p:spPr>
          <a:xfrm>
            <a:off x="9999726" y="33051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215.0</a:t>
            </a:r>
            <a:endParaRPr lang="en-US" sz="1260" dirty="0"/>
          </a:p>
        </p:txBody>
      </p:sp>
      <p:sp>
        <p:nvSpPr>
          <p:cNvPr id="53" name="ps:s12-reference-drivers-cell-1-2:rule"/>
          <p:cNvSpPr/>
          <p:nvPr/>
        </p:nvSpPr>
        <p:spPr>
          <a:xfrm>
            <a:off x="9885426" y="36480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4" name="ps:s12-reference-drivers:cell:2:0"/>
          <p:cNvSpPr/>
          <p:nvPr/>
        </p:nvSpPr>
        <p:spPr>
          <a:xfrm>
            <a:off x="6362700" y="368617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ps:s12-reference-drivers:cell-text:2:0:0"/>
          <p:cNvSpPr/>
          <p:nvPr/>
        </p:nvSpPr>
        <p:spPr>
          <a:xfrm>
            <a:off x="6477000" y="3786188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2029</a:t>
            </a:r>
            <a:endParaRPr lang="en-US" sz="1260" dirty="0"/>
          </a:p>
        </p:txBody>
      </p:sp>
      <p:sp>
        <p:nvSpPr>
          <p:cNvPr id="56" name="ps:s12-reference-drivers-cell-2-0:rule"/>
          <p:cNvSpPr/>
          <p:nvPr/>
        </p:nvSpPr>
        <p:spPr>
          <a:xfrm>
            <a:off x="6362700" y="410527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7" name="ps:s12-reference-drivers:cell-text:2:1:0"/>
          <p:cNvSpPr/>
          <p:nvPr/>
        </p:nvSpPr>
        <p:spPr>
          <a:xfrm>
            <a:off x="8264652" y="37623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260" dirty="0"/>
          </a:p>
        </p:txBody>
      </p:sp>
      <p:sp>
        <p:nvSpPr>
          <p:cNvPr id="58" name="ps:s12-reference-drivers-cell-2-1:rule"/>
          <p:cNvSpPr/>
          <p:nvPr/>
        </p:nvSpPr>
        <p:spPr>
          <a:xfrm>
            <a:off x="8150352" y="41052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9" name="ps:s12-reference-drivers:cell-text:2:2:0"/>
          <p:cNvSpPr/>
          <p:nvPr/>
        </p:nvSpPr>
        <p:spPr>
          <a:xfrm>
            <a:off x="9999726" y="37623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279.5</a:t>
            </a:r>
            <a:endParaRPr lang="en-US" sz="1260" dirty="0"/>
          </a:p>
        </p:txBody>
      </p:sp>
      <p:sp>
        <p:nvSpPr>
          <p:cNvPr id="60" name="ps:s12-reference-drivers-cell-2-2:rule"/>
          <p:cNvSpPr/>
          <p:nvPr/>
        </p:nvSpPr>
        <p:spPr>
          <a:xfrm>
            <a:off x="9885426" y="41052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1" name="ps:s12-reference-drivers:cell:3:0"/>
          <p:cNvSpPr/>
          <p:nvPr/>
        </p:nvSpPr>
        <p:spPr>
          <a:xfrm>
            <a:off x="6362700" y="414337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ps:s12-reference-drivers:cell-text:3:0:0"/>
          <p:cNvSpPr/>
          <p:nvPr/>
        </p:nvSpPr>
        <p:spPr>
          <a:xfrm>
            <a:off x="6477000" y="4243388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2030</a:t>
            </a:r>
            <a:endParaRPr lang="en-US" sz="1260" dirty="0"/>
          </a:p>
        </p:txBody>
      </p:sp>
      <p:sp>
        <p:nvSpPr>
          <p:cNvPr id="63" name="ps:s12-reference-drivers-cell-3-0:rule"/>
          <p:cNvSpPr/>
          <p:nvPr/>
        </p:nvSpPr>
        <p:spPr>
          <a:xfrm>
            <a:off x="6362700" y="456247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4" name="ps:s12-reference-drivers:cell-text:3:1:0"/>
          <p:cNvSpPr/>
          <p:nvPr/>
        </p:nvSpPr>
        <p:spPr>
          <a:xfrm>
            <a:off x="8264652" y="42195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60" dirty="0"/>
          </a:p>
        </p:txBody>
      </p:sp>
      <p:sp>
        <p:nvSpPr>
          <p:cNvPr id="65" name="ps:s12-reference-drivers-cell-3-1:rule"/>
          <p:cNvSpPr/>
          <p:nvPr/>
        </p:nvSpPr>
        <p:spPr>
          <a:xfrm>
            <a:off x="8150352" y="45624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6" name="ps:s12-reference-drivers:cell-text:3:2:0"/>
          <p:cNvSpPr/>
          <p:nvPr/>
        </p:nvSpPr>
        <p:spPr>
          <a:xfrm>
            <a:off x="9999726" y="42195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349.4</a:t>
            </a:r>
            <a:endParaRPr lang="en-US" sz="1260" dirty="0"/>
          </a:p>
        </p:txBody>
      </p:sp>
      <p:sp>
        <p:nvSpPr>
          <p:cNvPr id="67" name="ps:s12-reference-drivers-cell-3-2:rule"/>
          <p:cNvSpPr/>
          <p:nvPr/>
        </p:nvSpPr>
        <p:spPr>
          <a:xfrm>
            <a:off x="9885426" y="456247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8" name="ps:s12-reference-drivers:cell:4:0"/>
          <p:cNvSpPr/>
          <p:nvPr/>
        </p:nvSpPr>
        <p:spPr>
          <a:xfrm>
            <a:off x="6362700" y="460057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ps:s12-reference-drivers:cell-text:4:0:0"/>
          <p:cNvSpPr/>
          <p:nvPr/>
        </p:nvSpPr>
        <p:spPr>
          <a:xfrm>
            <a:off x="6477000" y="4700588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2031</a:t>
            </a:r>
            <a:endParaRPr lang="en-US" sz="1260" dirty="0"/>
          </a:p>
        </p:txBody>
      </p:sp>
      <p:sp>
        <p:nvSpPr>
          <p:cNvPr id="70" name="ps:s12-reference-drivers:cell-text:4:1:0"/>
          <p:cNvSpPr/>
          <p:nvPr/>
        </p:nvSpPr>
        <p:spPr>
          <a:xfrm>
            <a:off x="8264652" y="46767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60" dirty="0"/>
          </a:p>
        </p:txBody>
      </p:sp>
      <p:sp>
        <p:nvSpPr>
          <p:cNvPr id="71" name="ps:s12-reference-drivers:cell-text:4:2:0"/>
          <p:cNvSpPr/>
          <p:nvPr/>
        </p:nvSpPr>
        <p:spPr>
          <a:xfrm>
            <a:off x="9999726" y="467677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419.2</a:t>
            </a:r>
            <a:endParaRPr lang="en-US" sz="1260" dirty="0"/>
          </a:p>
        </p:txBody>
      </p:sp>
      <p:sp>
        <p:nvSpPr>
          <p:cNvPr id="72" name="ps:s12-reference-model-scope:marker:0"/>
          <p:cNvSpPr/>
          <p:nvPr/>
        </p:nvSpPr>
        <p:spPr>
          <a:xfrm>
            <a:off x="6362700" y="52435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3" name="ps:s12-reference-model-scope:item:0"/>
          <p:cNvSpPr/>
          <p:nvPr/>
        </p:nvSpPr>
        <p:spPr>
          <a:xfrm>
            <a:off x="6515100" y="517207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0 annualizes Q2 ex hedging, not FY2026; this is an analyst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not company guidance.</a:t>
            </a:r>
            <a:endParaRPr lang="en-US" sz="1260" dirty="0"/>
          </a:p>
        </p:txBody>
      </p:sp>
      <p:sp>
        <p:nvSpPr>
          <p:cNvPr id="74" name="ps:s12-reference-model-scope:marker:1"/>
          <p:cNvSpPr/>
          <p:nvPr/>
        </p:nvSpPr>
        <p:spPr>
          <a:xfrm>
            <a:off x="6362700" y="56816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5" name="ps:s12-reference-model-scope:item:1"/>
          <p:cNvSpPr/>
          <p:nvPr/>
        </p:nvSpPr>
        <p:spPr>
          <a:xfrm>
            <a:off x="6515100" y="561022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costs, economic SBC, working capital and depreciation remain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included; operating margin rises from 33.7% to 35.0%.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3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10% discount rate, all three illustrative values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below the $335 snapshot</a:t>
            </a:r>
            <a:endParaRPr lang="en-US" sz="2700" dirty="0"/>
          </a:p>
        </p:txBody>
      </p:sp>
      <p:sp>
        <p:nvSpPr>
          <p:cNvPr id="3" name="ps:s13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20" dirty="0"/>
          </a:p>
        </p:txBody>
      </p:sp>
      <p:sp>
        <p:nvSpPr>
          <p:cNvPr id="4" name="ps:s13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3-s13-deduction:surface"/>
          <p:cNvSpPr/>
          <p:nvPr/>
        </p:nvSpPr>
        <p:spPr>
          <a:xfrm>
            <a:off x="571500" y="56959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13-s13-deduction:body"/>
          <p:cNvSpPr/>
          <p:nvPr/>
        </p:nvSpPr>
        <p:spPr>
          <a:xfrm>
            <a:off x="800100" y="584835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Committing capital at the snapshot requires a lower assumed WACC or an operating path stronger than the displayed cases; the quoted price alone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choose between those assumptions.</a:t>
            </a:r>
            <a:endParaRPr lang="en-US" sz="1260" dirty="0"/>
          </a:p>
        </p:txBody>
      </p:sp>
      <p:sp>
        <p:nvSpPr>
          <p:cNvPr id="7" name="ps:s13-value-price-heading:heading"/>
          <p:cNvSpPr/>
          <p:nvPr/>
        </p:nvSpPr>
        <p:spPr>
          <a:xfrm>
            <a:off x="571500" y="1771650"/>
            <a:ext cx="11334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value,</a:t>
            </a:r>
            <a:endParaRPr lang="en-US" sz="1440" dirty="0"/>
          </a:p>
        </p:txBody>
      </p:sp>
      <p:sp>
        <p:nvSpPr>
          <p:cNvPr id="8" name="ps:s13-value-price-heading:unit"/>
          <p:cNvSpPr/>
          <p:nvPr/>
        </p:nvSpPr>
        <p:spPr>
          <a:xfrm>
            <a:off x="1704975" y="1771650"/>
            <a:ext cx="5876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/ share; 10% WACC, 3% growth</a:t>
            </a:r>
            <a:endParaRPr lang="en-US" sz="1440" dirty="0"/>
          </a:p>
        </p:txBody>
      </p:sp>
      <p:sp>
        <p:nvSpPr>
          <p:cNvPr id="9" name="ps:s13-value-price-heading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ps:s13-value-price:reference-line:0"/>
          <p:cNvSpPr/>
          <p:nvPr/>
        </p:nvSpPr>
        <p:spPr>
          <a:xfrm>
            <a:off x="1990725" y="2676690"/>
            <a:ext cx="543877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11" name="ps:s13-value-price:axis-label:0"/>
          <p:cNvSpPr/>
          <p:nvPr/>
        </p:nvSpPr>
        <p:spPr>
          <a:xfrm>
            <a:off x="1457325" y="37909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12" name="ps:s13-value-price:axis-label:1"/>
          <p:cNvSpPr/>
          <p:nvPr/>
        </p:nvSpPr>
        <p:spPr>
          <a:xfrm>
            <a:off x="1457325" y="342423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60" dirty="0"/>
          </a:p>
        </p:txBody>
      </p:sp>
      <p:sp>
        <p:nvSpPr>
          <p:cNvPr id="13" name="ps:s13-value-price:axis-label:2"/>
          <p:cNvSpPr/>
          <p:nvPr/>
        </p:nvSpPr>
        <p:spPr>
          <a:xfrm>
            <a:off x="1457325" y="30575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60" dirty="0"/>
          </a:p>
        </p:txBody>
      </p:sp>
      <p:sp>
        <p:nvSpPr>
          <p:cNvPr id="14" name="ps:s13-value-price:axis-label:3"/>
          <p:cNvSpPr/>
          <p:nvPr/>
        </p:nvSpPr>
        <p:spPr>
          <a:xfrm>
            <a:off x="1457325" y="26908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260" dirty="0"/>
          </a:p>
        </p:txBody>
      </p:sp>
      <p:sp>
        <p:nvSpPr>
          <p:cNvPr id="15" name="ps:s13-value-price:axis-label:4"/>
          <p:cNvSpPr/>
          <p:nvPr/>
        </p:nvSpPr>
        <p:spPr>
          <a:xfrm>
            <a:off x="1457325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260" dirty="0"/>
          </a:p>
        </p:txBody>
      </p:sp>
      <p:sp>
        <p:nvSpPr>
          <p:cNvPr id="16" name="ps:s13-value-price:y-axis"/>
          <p:cNvSpPr/>
          <p:nvPr/>
        </p:nvSpPr>
        <p:spPr>
          <a:xfrm>
            <a:off x="1990725" y="24384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ps:s13-value-price:x-axis"/>
          <p:cNvSpPr/>
          <p:nvPr/>
        </p:nvSpPr>
        <p:spPr>
          <a:xfrm>
            <a:off x="1990725" y="3905250"/>
            <a:ext cx="54387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8" name="ps:s13-value-price:series:value:downside"/>
          <p:cNvSpPr/>
          <p:nvPr/>
        </p:nvSpPr>
        <p:spPr>
          <a:xfrm>
            <a:off x="2262664" y="3721826"/>
            <a:ext cx="1230947" cy="183425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19" name="ps:s13-value-price:category:downside"/>
          <p:cNvSpPr/>
          <p:nvPr/>
        </p:nvSpPr>
        <p:spPr>
          <a:xfrm>
            <a:off x="2186464" y="3981450"/>
            <a:ext cx="1421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</a:t>
            </a:r>
            <a:endParaRPr lang="en-US" sz="1260" dirty="0"/>
          </a:p>
        </p:txBody>
      </p:sp>
      <p:sp>
        <p:nvSpPr>
          <p:cNvPr id="20" name="ps:s13-value-price:series:value:reference"/>
          <p:cNvSpPr/>
          <p:nvPr/>
        </p:nvSpPr>
        <p:spPr>
          <a:xfrm>
            <a:off x="4075589" y="3228196"/>
            <a:ext cx="1230947" cy="67705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ps:s13-value-price:category:reference"/>
          <p:cNvSpPr/>
          <p:nvPr/>
        </p:nvSpPr>
        <p:spPr>
          <a:xfrm>
            <a:off x="3999388" y="3981450"/>
            <a:ext cx="1421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260" dirty="0"/>
          </a:p>
        </p:txBody>
      </p:sp>
      <p:sp>
        <p:nvSpPr>
          <p:cNvPr id="22" name="ps:s13-value-price:series:value:upside"/>
          <p:cNvSpPr/>
          <p:nvPr/>
        </p:nvSpPr>
        <p:spPr>
          <a:xfrm>
            <a:off x="5888514" y="2792468"/>
            <a:ext cx="1230947" cy="1112782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23" name="ps:s13-value-price:category:upside"/>
          <p:cNvSpPr/>
          <p:nvPr/>
        </p:nvSpPr>
        <p:spPr>
          <a:xfrm>
            <a:off x="5812314" y="3981450"/>
            <a:ext cx="1421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1260" dirty="0"/>
          </a:p>
        </p:txBody>
      </p:sp>
      <p:sp>
        <p:nvSpPr>
          <p:cNvPr id="24" name="ps:s13-value-price:reference-label:0"/>
          <p:cNvSpPr/>
          <p:nvPr/>
        </p:nvSpPr>
        <p:spPr>
          <a:xfrm>
            <a:off x="2066925" y="2752890"/>
            <a:ext cx="19907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GOOGL, 1 Sep 2026 close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$335.02</a:t>
            </a:r>
            <a:endParaRPr lang="en-US" sz="1260" dirty="0"/>
          </a:p>
        </p:txBody>
      </p:sp>
      <p:sp>
        <p:nvSpPr>
          <p:cNvPr id="25" name="ps:s13-value-price:annotation-rail-surface:0"/>
          <p:cNvSpPr/>
          <p:nvPr/>
        </p:nvSpPr>
        <p:spPr>
          <a:xfrm>
            <a:off x="2597150" y="4286250"/>
            <a:ext cx="60007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ps:s13-value-price:annotation-rail-text:0"/>
          <p:cNvSpPr/>
          <p:nvPr/>
        </p:nvSpPr>
        <p:spPr>
          <a:xfrm>
            <a:off x="2673350" y="431482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50.02</a:t>
            </a:r>
            <a:endParaRPr lang="en-US" sz="1260" dirty="0"/>
          </a:p>
        </p:txBody>
      </p:sp>
      <p:sp>
        <p:nvSpPr>
          <p:cNvPr id="27" name="ps:s13-value-price:annotation-rail-surface:1"/>
          <p:cNvSpPr/>
          <p:nvPr/>
        </p:nvSpPr>
        <p:spPr>
          <a:xfrm>
            <a:off x="4367213" y="4286250"/>
            <a:ext cx="6858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ps:s13-value-price:annotation-rail-text:1"/>
          <p:cNvSpPr/>
          <p:nvPr/>
        </p:nvSpPr>
        <p:spPr>
          <a:xfrm>
            <a:off x="4443413" y="43148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184.63</a:t>
            </a:r>
            <a:endParaRPr lang="en-US" sz="1260" dirty="0"/>
          </a:p>
        </p:txBody>
      </p:sp>
      <p:sp>
        <p:nvSpPr>
          <p:cNvPr id="29" name="ps:s13-value-price:annotation-rail-surface:2"/>
          <p:cNvSpPr/>
          <p:nvPr/>
        </p:nvSpPr>
        <p:spPr>
          <a:xfrm>
            <a:off x="6180137" y="4286250"/>
            <a:ext cx="6858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ps:s13-value-price:annotation-rail-text:2"/>
          <p:cNvSpPr/>
          <p:nvPr/>
        </p:nvSpPr>
        <p:spPr>
          <a:xfrm>
            <a:off x="6256338" y="43148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303.45</a:t>
            </a:r>
            <a:endParaRPr lang="en-US" sz="1260" dirty="0"/>
          </a:p>
        </p:txBody>
      </p:sp>
      <p:sp>
        <p:nvSpPr>
          <p:cNvPr id="31" name="ps:s13-value-price:annotation-rail-label"/>
          <p:cNvSpPr/>
          <p:nvPr/>
        </p:nvSpPr>
        <p:spPr>
          <a:xfrm>
            <a:off x="676275" y="4286250"/>
            <a:ext cx="1200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$ / share</a:t>
            </a:r>
            <a:endParaRPr lang="en-US" sz="1260" dirty="0"/>
          </a:p>
        </p:txBody>
      </p:sp>
      <p:sp>
        <p:nvSpPr>
          <p:cNvPr id="32" name="ps:s13-value-price-rail-row-1:annotation-rail-surface:0"/>
          <p:cNvSpPr/>
          <p:nvPr/>
        </p:nvSpPr>
        <p:spPr>
          <a:xfrm>
            <a:off x="2544762" y="4781550"/>
            <a:ext cx="70485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ps:s13-value-price-rail-row-1:annotation-rail-text:0"/>
          <p:cNvSpPr/>
          <p:nvPr/>
        </p:nvSpPr>
        <p:spPr>
          <a:xfrm>
            <a:off x="2620963" y="48101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-85.1%</a:t>
            </a:r>
            <a:endParaRPr lang="en-US" sz="1260" dirty="0"/>
          </a:p>
        </p:txBody>
      </p:sp>
      <p:sp>
        <p:nvSpPr>
          <p:cNvPr id="34" name="ps:s13-value-price-rail-row-1:annotation-rail-surface:1"/>
          <p:cNvSpPr/>
          <p:nvPr/>
        </p:nvSpPr>
        <p:spPr>
          <a:xfrm>
            <a:off x="4357688" y="4781550"/>
            <a:ext cx="70485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ps:s13-value-price-rail-row-1:annotation-rail-text:1"/>
          <p:cNvSpPr/>
          <p:nvPr/>
        </p:nvSpPr>
        <p:spPr>
          <a:xfrm>
            <a:off x="4433887" y="48101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-44.9%</a:t>
            </a:r>
            <a:endParaRPr lang="en-US" sz="1260" dirty="0"/>
          </a:p>
        </p:txBody>
      </p:sp>
      <p:sp>
        <p:nvSpPr>
          <p:cNvPr id="36" name="ps:s13-value-price-rail-row-1:annotation-rail-surface:2"/>
          <p:cNvSpPr/>
          <p:nvPr/>
        </p:nvSpPr>
        <p:spPr>
          <a:xfrm>
            <a:off x="6218237" y="4781550"/>
            <a:ext cx="6096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s:s13-value-price-rail-row-1:annotation-rail-text:2"/>
          <p:cNvSpPr/>
          <p:nvPr/>
        </p:nvSpPr>
        <p:spPr>
          <a:xfrm>
            <a:off x="6294437" y="48101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-9.4%</a:t>
            </a:r>
            <a:endParaRPr lang="en-US" sz="1260" dirty="0"/>
          </a:p>
        </p:txBody>
      </p:sp>
      <p:sp>
        <p:nvSpPr>
          <p:cNvPr id="38" name="ps:s13-value-price-rail-row-1:annotation-rail-label"/>
          <p:cNvSpPr/>
          <p:nvPr/>
        </p:nvSpPr>
        <p:spPr>
          <a:xfrm>
            <a:off x="571500" y="4781550"/>
            <a:ext cx="1304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/ price gap</a:t>
            </a:r>
            <a:endParaRPr lang="en-US" sz="1260" dirty="0"/>
          </a:p>
        </p:txBody>
      </p:sp>
      <p:sp>
        <p:nvSpPr>
          <p:cNvPr id="39" name="ps:s13-s13-related-boundary:separator"/>
          <p:cNvSpPr/>
          <p:nvPr/>
        </p:nvSpPr>
        <p:spPr>
          <a:xfrm>
            <a:off x="7848600" y="1771650"/>
            <a:ext cx="0" cy="377190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40" name="ps:s13-s13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value limits precision</a:t>
            </a:r>
            <a:endParaRPr lang="en-US" sz="1440" dirty="0"/>
          </a:p>
        </p:txBody>
      </p:sp>
      <p:sp>
        <p:nvSpPr>
          <p:cNvPr id="41" name="ps:s13-s13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2" name="ps:s13-s13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ps:s13-s13-additional-context-points:item:0"/>
          <p:cNvSpPr/>
          <p:nvPr/>
        </p:nvSpPr>
        <p:spPr>
          <a:xfrm>
            <a:off x="8267700" y="2457450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case derives 89% of enterprise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from the terminal period.</a:t>
            </a:r>
            <a:endParaRPr lang="en-US" sz="1260" dirty="0"/>
          </a:p>
        </p:txBody>
      </p:sp>
      <p:sp>
        <p:nvSpPr>
          <p:cNvPr id="44" name="ps:s13-s13-additional-context-points:marker:1"/>
          <p:cNvSpPr/>
          <p:nvPr/>
        </p:nvSpPr>
        <p:spPr>
          <a:xfrm>
            <a:off x="8115300" y="29670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5" name="ps:s13-s13-additional-context-points:item:1"/>
          <p:cNvSpPr/>
          <p:nvPr/>
        </p:nvSpPr>
        <p:spPr>
          <a:xfrm>
            <a:off x="8267700" y="289560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include AI costs, capex and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 asset/claim bridge. No scenario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are assigned.</a:t>
            </a:r>
            <a:endParaRPr lang="en-US" sz="1260" dirty="0"/>
          </a:p>
        </p:txBody>
      </p:sp>
      <p:sp>
        <p:nvSpPr>
          <p:cNvPr id="46" name="ps:s13-s13-additional-context-points:marker:2"/>
          <p:cNvSpPr/>
          <p:nvPr/>
        </p:nvSpPr>
        <p:spPr>
          <a:xfrm>
            <a:off x="8115300" y="35861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ps:s13-s13-additional-context-points:item:2"/>
          <p:cNvSpPr/>
          <p:nvPr/>
        </p:nvSpPr>
        <p:spPr>
          <a:xfrm>
            <a:off x="8267700" y="3514725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versus price is not expected one-year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or a precise price target.</a:t>
            </a:r>
            <a:endParaRPr lang="en-US" sz="12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4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lower assumed WACC can reverse the decision, while persistent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widens the shortfall</a:t>
            </a:r>
            <a:endParaRPr lang="en-US" sz="2700" dirty="0"/>
          </a:p>
        </p:txBody>
      </p:sp>
      <p:sp>
        <p:nvSpPr>
          <p:cNvPr id="3" name="ps:s14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20" dirty="0"/>
          </a:p>
        </p:txBody>
      </p:sp>
      <p:sp>
        <p:nvSpPr>
          <p:cNvPr id="4" name="ps:s14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4-s14-related-boundary:separator"/>
          <p:cNvSpPr/>
          <p:nvPr/>
        </p:nvSpPr>
        <p:spPr>
          <a:xfrm>
            <a:off x="78486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6" name="ps:s14-s14-table-title:heading"/>
          <p:cNvSpPr/>
          <p:nvPr/>
        </p:nvSpPr>
        <p:spPr>
          <a:xfrm>
            <a:off x="571500" y="1771650"/>
            <a:ext cx="701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sensitivity</a:t>
            </a:r>
            <a:endParaRPr lang="en-US" sz="1440" dirty="0"/>
          </a:p>
        </p:txBody>
      </p:sp>
      <p:sp>
        <p:nvSpPr>
          <p:cNvPr id="7" name="ps:s14-s14-table-title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4-decision-sensitivity:header-text:0"/>
          <p:cNvSpPr/>
          <p:nvPr/>
        </p:nvSpPr>
        <p:spPr>
          <a:xfrm>
            <a:off x="685800" y="2438400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change</a:t>
            </a:r>
            <a:endParaRPr lang="en-US" sz="1260" dirty="0"/>
          </a:p>
        </p:txBody>
      </p:sp>
      <p:sp>
        <p:nvSpPr>
          <p:cNvPr id="9" name="ps:s14-decision-sensitivity:header-rule:0"/>
          <p:cNvSpPr/>
          <p:nvPr/>
        </p:nvSpPr>
        <p:spPr>
          <a:xfrm>
            <a:off x="571500" y="291465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0" name="ps:s14-decision-sensitivity:header-text:1"/>
          <p:cNvSpPr/>
          <p:nvPr/>
        </p:nvSpPr>
        <p:spPr>
          <a:xfrm>
            <a:off x="4611624" y="243840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Value/share</a:t>
            </a:r>
            <a:endParaRPr lang="en-US" sz="1260" dirty="0"/>
          </a:p>
        </p:txBody>
      </p:sp>
      <p:sp>
        <p:nvSpPr>
          <p:cNvPr id="11" name="ps:s14-decision-sensitivity:header-rule:1"/>
          <p:cNvSpPr/>
          <p:nvPr/>
        </p:nvSpPr>
        <p:spPr>
          <a:xfrm>
            <a:off x="4497324" y="291465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2" name="ps:s14-decision-sensitivity:header-text:2"/>
          <p:cNvSpPr/>
          <p:nvPr/>
        </p:nvSpPr>
        <p:spPr>
          <a:xfrm>
            <a:off x="5733288" y="2438400"/>
            <a:ext cx="173431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under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rule</a:t>
            </a:r>
            <a:endParaRPr lang="en-US" sz="1260" dirty="0"/>
          </a:p>
        </p:txBody>
      </p:sp>
      <p:sp>
        <p:nvSpPr>
          <p:cNvPr id="13" name="ps:s14-decision-sensitivity:header-rule:2"/>
          <p:cNvSpPr/>
          <p:nvPr/>
        </p:nvSpPr>
        <p:spPr>
          <a:xfrm>
            <a:off x="5618988" y="291465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4-decision-sensitivity:cell:0:0"/>
          <p:cNvSpPr/>
          <p:nvPr/>
        </p:nvSpPr>
        <p:spPr>
          <a:xfrm>
            <a:off x="571500" y="295275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ps:s14-decision-sensitivity:cell-text:0:0:0"/>
          <p:cNvSpPr/>
          <p:nvPr/>
        </p:nvSpPr>
        <p:spPr>
          <a:xfrm>
            <a:off x="685800" y="3052763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10% WACC / 3% growth</a:t>
            </a:r>
            <a:endParaRPr lang="en-US" sz="1260" dirty="0"/>
          </a:p>
        </p:txBody>
      </p:sp>
      <p:sp>
        <p:nvSpPr>
          <p:cNvPr id="16" name="ps:s14-decision-sensitivity-cell-0-0:rule"/>
          <p:cNvSpPr/>
          <p:nvPr/>
        </p:nvSpPr>
        <p:spPr>
          <a:xfrm>
            <a:off x="571500" y="337185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7" name="ps:s14-decision-sensitivity:cell-text:0:1:0"/>
          <p:cNvSpPr/>
          <p:nvPr/>
        </p:nvSpPr>
        <p:spPr>
          <a:xfrm>
            <a:off x="4611624" y="302895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$184.63</a:t>
            </a:r>
            <a:endParaRPr lang="en-US" sz="1260" dirty="0"/>
          </a:p>
        </p:txBody>
      </p:sp>
      <p:sp>
        <p:nvSpPr>
          <p:cNvPr id="18" name="ps:s14-decision-sensitivity-cell-0-1:rule"/>
          <p:cNvSpPr/>
          <p:nvPr/>
        </p:nvSpPr>
        <p:spPr>
          <a:xfrm>
            <a:off x="4497324" y="337185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9" name="ps:s14-decision-sensitivity:cell-text:0:2:0"/>
          <p:cNvSpPr/>
          <p:nvPr/>
        </p:nvSpPr>
        <p:spPr>
          <a:xfrm>
            <a:off x="5733288" y="302895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60" dirty="0"/>
          </a:p>
        </p:txBody>
      </p:sp>
      <p:sp>
        <p:nvSpPr>
          <p:cNvPr id="20" name="ps:s14-decision-sensitivity-cell-0-2:rule"/>
          <p:cNvSpPr/>
          <p:nvPr/>
        </p:nvSpPr>
        <p:spPr>
          <a:xfrm>
            <a:off x="5618988" y="337185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4-decision-sensitivity:cell:1:0"/>
          <p:cNvSpPr/>
          <p:nvPr/>
        </p:nvSpPr>
        <p:spPr>
          <a:xfrm>
            <a:off x="571500" y="340995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ps:s14-decision-sensitivity:cell-text:1:0:0"/>
          <p:cNvSpPr/>
          <p:nvPr/>
        </p:nvSpPr>
        <p:spPr>
          <a:xfrm>
            <a:off x="685800" y="3509963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8% WACC / 3% growth</a:t>
            </a:r>
            <a:endParaRPr lang="en-US" sz="1260" dirty="0"/>
          </a:p>
        </p:txBody>
      </p:sp>
      <p:sp>
        <p:nvSpPr>
          <p:cNvPr id="23" name="ps:s14-decision-sensitivity-cell-1-0:rule"/>
          <p:cNvSpPr/>
          <p:nvPr/>
        </p:nvSpPr>
        <p:spPr>
          <a:xfrm>
            <a:off x="571500" y="382905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14-decision-sensitivity:cell-text:1:1:0"/>
          <p:cNvSpPr/>
          <p:nvPr/>
        </p:nvSpPr>
        <p:spPr>
          <a:xfrm>
            <a:off x="4611624" y="348615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$270.13</a:t>
            </a:r>
            <a:endParaRPr lang="en-US" sz="1260" dirty="0"/>
          </a:p>
        </p:txBody>
      </p:sp>
      <p:sp>
        <p:nvSpPr>
          <p:cNvPr id="25" name="ps:s14-decision-sensitivity-cell-1-1:rule"/>
          <p:cNvSpPr/>
          <p:nvPr/>
        </p:nvSpPr>
        <p:spPr>
          <a:xfrm>
            <a:off x="4497324" y="382905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6" name="ps:s14-decision-sensitivity:cell-text:1:2:0"/>
          <p:cNvSpPr/>
          <p:nvPr/>
        </p:nvSpPr>
        <p:spPr>
          <a:xfrm>
            <a:off x="5733288" y="348615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260" dirty="0"/>
          </a:p>
        </p:txBody>
      </p:sp>
      <p:sp>
        <p:nvSpPr>
          <p:cNvPr id="27" name="ps:s14-decision-sensitivity-cell-1-2:rule"/>
          <p:cNvSpPr/>
          <p:nvPr/>
        </p:nvSpPr>
        <p:spPr>
          <a:xfrm>
            <a:off x="5618988" y="382905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14-decision-sensitivity:cell:2:0"/>
          <p:cNvSpPr/>
          <p:nvPr/>
        </p:nvSpPr>
        <p:spPr>
          <a:xfrm>
            <a:off x="571500" y="3867150"/>
            <a:ext cx="3849624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ps:s14-decision-sensitivity:cell-text:2:0:0"/>
          <p:cNvSpPr/>
          <p:nvPr/>
        </p:nvSpPr>
        <p:spPr>
          <a:xfrm>
            <a:off x="685800" y="4033837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Upside, 8% WACC / 3% growth</a:t>
            </a:r>
            <a:endParaRPr lang="en-US" sz="1260" dirty="0"/>
          </a:p>
        </p:txBody>
      </p:sp>
      <p:sp>
        <p:nvSpPr>
          <p:cNvPr id="30" name="ps:s14-decision-sensitivity-cell-2-0:rule"/>
          <p:cNvSpPr/>
          <p:nvPr/>
        </p:nvSpPr>
        <p:spPr>
          <a:xfrm>
            <a:off x="571500" y="441960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4-decision-sensitivity:cell-text:2:1:0"/>
          <p:cNvSpPr/>
          <p:nvPr/>
        </p:nvSpPr>
        <p:spPr>
          <a:xfrm>
            <a:off x="4611624" y="394335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$444.47</a:t>
            </a:r>
            <a:endParaRPr lang="en-US" sz="1260" dirty="0"/>
          </a:p>
        </p:txBody>
      </p:sp>
      <p:sp>
        <p:nvSpPr>
          <p:cNvPr id="32" name="ps:s14-decision-sensitivity-cell-2-1:rule"/>
          <p:cNvSpPr/>
          <p:nvPr/>
        </p:nvSpPr>
        <p:spPr>
          <a:xfrm>
            <a:off x="4497324" y="441960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3" name="ps:s14-decision-sensitivity:cell-text:2:2:0"/>
          <p:cNvSpPr/>
          <p:nvPr/>
        </p:nvSpPr>
        <p:spPr>
          <a:xfrm>
            <a:off x="5733288" y="3943350"/>
            <a:ext cx="173431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if this path is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</a:t>
            </a:r>
            <a:endParaRPr lang="en-US" sz="1260" dirty="0"/>
          </a:p>
        </p:txBody>
      </p:sp>
      <p:sp>
        <p:nvSpPr>
          <p:cNvPr id="34" name="ps:s14-decision-sensitivity-cell-2-2:rule"/>
          <p:cNvSpPr/>
          <p:nvPr/>
        </p:nvSpPr>
        <p:spPr>
          <a:xfrm>
            <a:off x="5618988" y="441960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14-decision-sensitivity:cell:3:0"/>
          <p:cNvSpPr/>
          <p:nvPr/>
        </p:nvSpPr>
        <p:spPr>
          <a:xfrm>
            <a:off x="571500" y="445770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ps:s14-decision-sensitivity:cell-text:3:0:0"/>
          <p:cNvSpPr/>
          <p:nvPr/>
        </p:nvSpPr>
        <p:spPr>
          <a:xfrm>
            <a:off x="685800" y="4557713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capex/revenue +5pp every year</a:t>
            </a:r>
            <a:endParaRPr lang="en-US" sz="1260" dirty="0"/>
          </a:p>
        </p:txBody>
      </p:sp>
      <p:sp>
        <p:nvSpPr>
          <p:cNvPr id="37" name="ps:s14-decision-sensitivity-cell-3-0:rule"/>
          <p:cNvSpPr/>
          <p:nvPr/>
        </p:nvSpPr>
        <p:spPr>
          <a:xfrm>
            <a:off x="571500" y="487680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8" name="ps:s14-decision-sensitivity:cell-text:3:1:0"/>
          <p:cNvSpPr/>
          <p:nvPr/>
        </p:nvSpPr>
        <p:spPr>
          <a:xfrm>
            <a:off x="4611624" y="453390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$134.62</a:t>
            </a:r>
            <a:endParaRPr lang="en-US" sz="1260" dirty="0"/>
          </a:p>
        </p:txBody>
      </p:sp>
      <p:sp>
        <p:nvSpPr>
          <p:cNvPr id="39" name="ps:s14-decision-sensitivity-cell-3-1:rule"/>
          <p:cNvSpPr/>
          <p:nvPr/>
        </p:nvSpPr>
        <p:spPr>
          <a:xfrm>
            <a:off x="4497324" y="487680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0" name="ps:s14-decision-sensitivity:cell-text:3:2:0"/>
          <p:cNvSpPr/>
          <p:nvPr/>
        </p:nvSpPr>
        <p:spPr>
          <a:xfrm>
            <a:off x="5733288" y="453390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60" dirty="0"/>
          </a:p>
        </p:txBody>
      </p:sp>
      <p:sp>
        <p:nvSpPr>
          <p:cNvPr id="41" name="ps:s14-decision-sensitivity-cell-3-2:rule"/>
          <p:cNvSpPr/>
          <p:nvPr/>
        </p:nvSpPr>
        <p:spPr>
          <a:xfrm>
            <a:off x="5618988" y="487680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2" name="ps:s14-decision-sensitivity:cell:4:0"/>
          <p:cNvSpPr/>
          <p:nvPr/>
        </p:nvSpPr>
        <p:spPr>
          <a:xfrm>
            <a:off x="571500" y="491490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ps:s14-decision-sensitivity:cell-text:4:0:0"/>
          <p:cNvSpPr/>
          <p:nvPr/>
        </p:nvSpPr>
        <p:spPr>
          <a:xfrm>
            <a:off x="685800" y="5014913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Search growth -5pp every year</a:t>
            </a:r>
            <a:endParaRPr lang="en-US" sz="1260" dirty="0"/>
          </a:p>
        </p:txBody>
      </p:sp>
      <p:sp>
        <p:nvSpPr>
          <p:cNvPr id="44" name="ps:s14-decision-sensitivity:cell-text:4:1:0"/>
          <p:cNvSpPr/>
          <p:nvPr/>
        </p:nvSpPr>
        <p:spPr>
          <a:xfrm>
            <a:off x="4611624" y="499110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$165.29</a:t>
            </a:r>
            <a:endParaRPr lang="en-US" sz="1260" dirty="0"/>
          </a:p>
        </p:txBody>
      </p:sp>
      <p:sp>
        <p:nvSpPr>
          <p:cNvPr id="45" name="ps:s14-decision-sensitivity:cell-text:4:2:0"/>
          <p:cNvSpPr/>
          <p:nvPr/>
        </p:nvSpPr>
        <p:spPr>
          <a:xfrm>
            <a:off x="5733288" y="499110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60" dirty="0"/>
          </a:p>
        </p:txBody>
      </p:sp>
      <p:sp>
        <p:nvSpPr>
          <p:cNvPr id="46" name="ps:s14-s14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decision policy</a:t>
            </a:r>
            <a:endParaRPr lang="en-US" sz="1440" dirty="0"/>
          </a:p>
        </p:txBody>
      </p:sp>
      <p:sp>
        <p:nvSpPr>
          <p:cNvPr id="47" name="ps:s14-s14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8" name="ps:s14-s14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ps:s14-s14-additional-context-points:item:0"/>
          <p:cNvSpPr/>
          <p:nvPr/>
        </p:nvSpPr>
        <p:spPr>
          <a:xfrm>
            <a:off x="8267700" y="2457450"/>
            <a:ext cx="33528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proposes Buy at supported value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$402.02 or more, Hold from $268.02 to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$402.02, and Avoid below $268.02.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has not supplied this policy.</a:t>
            </a:r>
            <a:endParaRPr lang="en-US" sz="1260" dirty="0"/>
          </a:p>
        </p:txBody>
      </p:sp>
      <p:sp>
        <p:nvSpPr>
          <p:cNvPr id="50" name="ps:s14-s14-additional-context-points:marker:1"/>
          <p:cNvSpPr/>
          <p:nvPr/>
        </p:nvSpPr>
        <p:spPr>
          <a:xfrm>
            <a:off x="8115300" y="33289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ps:s14-s14-additional-context-points:item:1"/>
          <p:cNvSpPr/>
          <p:nvPr/>
        </p:nvSpPr>
        <p:spPr>
          <a:xfrm>
            <a:off x="8267700" y="3257550"/>
            <a:ext cx="33528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operations match the $335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at approximately a 7.1% assumed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with 3% perpetual growth; this is not a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promised stock return.</a:t>
            </a:r>
            <a:endParaRPr lang="en-US" sz="1260" dirty="0"/>
          </a:p>
        </p:txBody>
      </p:sp>
      <p:sp>
        <p:nvSpPr>
          <p:cNvPr id="52" name="ps:s14-s14-additional-context-points:marker:2"/>
          <p:cNvSpPr/>
          <p:nvPr/>
        </p:nvSpPr>
        <p:spPr>
          <a:xfrm>
            <a:off x="8115300" y="41290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3" name="ps:s14-s14-additional-context-points:item:2"/>
          <p:cNvSpPr/>
          <p:nvPr/>
        </p:nvSpPr>
        <p:spPr>
          <a:xfrm>
            <a:off x="8267700" y="405765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is assumed, not empirically estimated;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must accept the enterprise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convention.</a:t>
            </a:r>
            <a:endParaRPr lang="en-US" sz="12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5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the thesis when cash conversion, Cloud mix or distribution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remedies change the model</a:t>
            </a:r>
            <a:endParaRPr lang="en-US" sz="2700" dirty="0"/>
          </a:p>
        </p:txBody>
      </p:sp>
      <p:sp>
        <p:nvSpPr>
          <p:cNvPr id="3" name="ps:s15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20" dirty="0"/>
          </a:p>
        </p:txBody>
      </p:sp>
      <p:sp>
        <p:nvSpPr>
          <p:cNvPr id="4" name="ps:s15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5-thesis-review:header-text:0"/>
          <p:cNvSpPr/>
          <p:nvPr/>
        </p:nvSpPr>
        <p:spPr>
          <a:xfrm>
            <a:off x="685800" y="1885950"/>
            <a:ext cx="17602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event</a:t>
            </a:r>
            <a:endParaRPr lang="en-US" sz="1260" dirty="0"/>
          </a:p>
        </p:txBody>
      </p:sp>
      <p:sp>
        <p:nvSpPr>
          <p:cNvPr id="6" name="ps:s15-thesis-review:header-rule:0"/>
          <p:cNvSpPr/>
          <p:nvPr/>
        </p:nvSpPr>
        <p:spPr>
          <a:xfrm>
            <a:off x="571500" y="2181225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5-thesis-review:header-text:1"/>
          <p:cNvSpPr/>
          <p:nvPr/>
        </p:nvSpPr>
        <p:spPr>
          <a:xfrm>
            <a:off x="2674620" y="1885950"/>
            <a:ext cx="43014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changes the thesis</a:t>
            </a:r>
            <a:endParaRPr lang="en-US" sz="1260" dirty="0"/>
          </a:p>
        </p:txBody>
      </p:sp>
      <p:sp>
        <p:nvSpPr>
          <p:cNvPr id="8" name="ps:s15-thesis-review:header-rule:1"/>
          <p:cNvSpPr/>
          <p:nvPr/>
        </p:nvSpPr>
        <p:spPr>
          <a:xfrm>
            <a:off x="2560320" y="2181225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5-thesis-review:header-text:3"/>
          <p:cNvSpPr/>
          <p:nvPr/>
        </p:nvSpPr>
        <p:spPr>
          <a:xfrm>
            <a:off x="7812405" y="1885950"/>
            <a:ext cx="36937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for underwriting</a:t>
            </a:r>
            <a:endParaRPr lang="en-US" sz="1260" dirty="0"/>
          </a:p>
        </p:txBody>
      </p:sp>
      <p:sp>
        <p:nvSpPr>
          <p:cNvPr id="10" name="ps:s15-thesis-review:header-rule:3"/>
          <p:cNvSpPr/>
          <p:nvPr/>
        </p:nvSpPr>
        <p:spPr>
          <a:xfrm>
            <a:off x="7698105" y="2181225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5-thesis-review:cell:0:0"/>
          <p:cNvSpPr/>
          <p:nvPr/>
        </p:nvSpPr>
        <p:spPr>
          <a:xfrm>
            <a:off x="571500" y="2219325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5-thesis-review:cell-text:0:0:0"/>
          <p:cNvSpPr/>
          <p:nvPr/>
        </p:nvSpPr>
        <p:spPr>
          <a:xfrm>
            <a:off x="685800" y="2386013"/>
            <a:ext cx="17602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earnings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cash-flow release</a:t>
            </a:r>
            <a:endParaRPr lang="en-US" sz="1260" dirty="0"/>
          </a:p>
        </p:txBody>
      </p:sp>
      <p:sp>
        <p:nvSpPr>
          <p:cNvPr id="13" name="ps:s15-thesis-review-cell-0-0:rule"/>
          <p:cNvSpPr/>
          <p:nvPr/>
        </p:nvSpPr>
        <p:spPr>
          <a:xfrm>
            <a:off x="571500" y="2952750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5-thesis-review:cell-text:0:1:0"/>
          <p:cNvSpPr/>
          <p:nvPr/>
        </p:nvSpPr>
        <p:spPr>
          <a:xfrm>
            <a:off x="2674620" y="2295525"/>
            <a:ext cx="43014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persistently covers capex while revenue grows;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alternatively capex intensity fails to ease from the scenario's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starting level.</a:t>
            </a:r>
            <a:endParaRPr lang="en-US" sz="1260" dirty="0"/>
          </a:p>
        </p:txBody>
      </p:sp>
      <p:sp>
        <p:nvSpPr>
          <p:cNvPr id="15" name="ps:s15-thesis-review-cell-0-1:rule"/>
          <p:cNvSpPr/>
          <p:nvPr/>
        </p:nvSpPr>
        <p:spPr>
          <a:xfrm>
            <a:off x="2560320" y="2952750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5-thesis-review-cell-0-2:arrow:0"/>
          <p:cNvSpPr/>
          <p:nvPr/>
        </p:nvSpPr>
        <p:spPr>
          <a:xfrm>
            <a:off x="7279957" y="2452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ps:s15-thesis-review-cell-0-2:arrow:1"/>
          <p:cNvSpPr/>
          <p:nvPr/>
        </p:nvSpPr>
        <p:spPr>
          <a:xfrm>
            <a:off x="7369111" y="2514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ps:s15-thesis-review-cell-0-2:arrow:2"/>
          <p:cNvSpPr/>
          <p:nvPr/>
        </p:nvSpPr>
        <p:spPr>
          <a:xfrm flipH="1">
            <a:off x="7369111" y="2566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ps:s15-thesis-review:cell-text:0:3:0"/>
          <p:cNvSpPr/>
          <p:nvPr/>
        </p:nvSpPr>
        <p:spPr>
          <a:xfrm>
            <a:off x="7812405" y="2295525"/>
            <a:ext cx="369379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or reject the reference cash recovery.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+5pp capital intensity cuts modeled value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about $50/share.</a:t>
            </a:r>
            <a:endParaRPr lang="en-US" sz="1260" dirty="0"/>
          </a:p>
        </p:txBody>
      </p:sp>
      <p:sp>
        <p:nvSpPr>
          <p:cNvPr id="20" name="ps:s15-thesis-review-cell-0-3:rule"/>
          <p:cNvSpPr/>
          <p:nvPr/>
        </p:nvSpPr>
        <p:spPr>
          <a:xfrm>
            <a:off x="7698105" y="2952750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5-thesis-review:cell:1:0"/>
          <p:cNvSpPr/>
          <p:nvPr/>
        </p:nvSpPr>
        <p:spPr>
          <a:xfrm>
            <a:off x="571500" y="2990850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ps:s15-thesis-review:cell-text:1:0:0"/>
          <p:cNvSpPr/>
          <p:nvPr/>
        </p:nvSpPr>
        <p:spPr>
          <a:xfrm>
            <a:off x="685800" y="3248025"/>
            <a:ext cx="17602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disclosure</a:t>
            </a:r>
            <a:endParaRPr lang="en-US" sz="1260" dirty="0"/>
          </a:p>
        </p:txBody>
      </p:sp>
      <p:sp>
        <p:nvSpPr>
          <p:cNvPr id="23" name="ps:s15-thesis-review-cell-1-0:rule"/>
          <p:cNvSpPr/>
          <p:nvPr/>
        </p:nvSpPr>
        <p:spPr>
          <a:xfrm>
            <a:off x="571500" y="3724275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15-thesis-review:cell-text:1:1:0"/>
          <p:cNvSpPr/>
          <p:nvPr/>
        </p:nvSpPr>
        <p:spPr>
          <a:xfrm>
            <a:off x="2674620" y="3067050"/>
            <a:ext cx="43014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clearer TPU/Wiz split and sustained services growth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55% first-year reference assumption; weaker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or margin after infrastructure cost argues against it.</a:t>
            </a:r>
            <a:endParaRPr lang="en-US" sz="1260" dirty="0"/>
          </a:p>
        </p:txBody>
      </p:sp>
      <p:sp>
        <p:nvSpPr>
          <p:cNvPr id="25" name="ps:s15-thesis-review-cell-1-1:rule"/>
          <p:cNvSpPr/>
          <p:nvPr/>
        </p:nvSpPr>
        <p:spPr>
          <a:xfrm>
            <a:off x="2560320" y="3724275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6" name="ps:s15-thesis-review-cell-1-2:arrow:0"/>
          <p:cNvSpPr/>
          <p:nvPr/>
        </p:nvSpPr>
        <p:spPr>
          <a:xfrm>
            <a:off x="7279957" y="322421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ps:s15-thesis-review-cell-1-2:arrow:1"/>
          <p:cNvSpPr/>
          <p:nvPr/>
        </p:nvSpPr>
        <p:spPr>
          <a:xfrm>
            <a:off x="7369111" y="328593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ps:s15-thesis-review-cell-1-2:arrow:2"/>
          <p:cNvSpPr/>
          <p:nvPr/>
        </p:nvSpPr>
        <p:spPr>
          <a:xfrm flipH="1">
            <a:off x="7369111" y="3338513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ps:s15-thesis-review:cell-text:1:3:0"/>
          <p:cNvSpPr/>
          <p:nvPr/>
        </p:nvSpPr>
        <p:spPr>
          <a:xfrm>
            <a:off x="7812405" y="3067050"/>
            <a:ext cx="369379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Cloud rather than extrapolating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82% indefinitely. The stronger upside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separate evidence.</a:t>
            </a:r>
            <a:endParaRPr lang="en-US" sz="1260" dirty="0"/>
          </a:p>
        </p:txBody>
      </p:sp>
      <p:sp>
        <p:nvSpPr>
          <p:cNvPr id="30" name="ps:s15-thesis-review-cell-1-3:rule"/>
          <p:cNvSpPr/>
          <p:nvPr/>
        </p:nvSpPr>
        <p:spPr>
          <a:xfrm>
            <a:off x="7698105" y="3724275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5-thesis-review:cell:2:0"/>
          <p:cNvSpPr/>
          <p:nvPr/>
        </p:nvSpPr>
        <p:spPr>
          <a:xfrm>
            <a:off x="571500" y="3762375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ps:s15-thesis-review:cell-text:2:0:0"/>
          <p:cNvSpPr/>
          <p:nvPr/>
        </p:nvSpPr>
        <p:spPr>
          <a:xfrm>
            <a:off x="685800" y="3838575"/>
            <a:ext cx="17602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remedy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</a:t>
            </a:r>
            <a:endParaRPr lang="en-US" sz="1260" dirty="0"/>
          </a:p>
        </p:txBody>
      </p:sp>
      <p:sp>
        <p:nvSpPr>
          <p:cNvPr id="33" name="ps:s15-thesis-review-cell-2-0:rule"/>
          <p:cNvSpPr/>
          <p:nvPr/>
        </p:nvSpPr>
        <p:spPr>
          <a:xfrm>
            <a:off x="571500" y="4495800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5-thesis-review:cell-text:2:1:0"/>
          <p:cNvSpPr/>
          <p:nvPr/>
        </p:nvSpPr>
        <p:spPr>
          <a:xfrm>
            <a:off x="2674620" y="3838575"/>
            <a:ext cx="43014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limits, adverse click/CPC changes, or evidence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profitable incremental AI queries change the Search path.</a:t>
            </a:r>
            <a:endParaRPr lang="en-US" sz="1260" dirty="0"/>
          </a:p>
        </p:txBody>
      </p:sp>
      <p:sp>
        <p:nvSpPr>
          <p:cNvPr id="35" name="ps:s15-thesis-review-cell-2-1:rule"/>
          <p:cNvSpPr/>
          <p:nvPr/>
        </p:nvSpPr>
        <p:spPr>
          <a:xfrm>
            <a:off x="2560320" y="4495800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5-thesis-review-cell-2-2:arrow:0"/>
          <p:cNvSpPr/>
          <p:nvPr/>
        </p:nvSpPr>
        <p:spPr>
          <a:xfrm>
            <a:off x="7279957" y="399573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ps:s15-thesis-review-cell-2-2:arrow:1"/>
          <p:cNvSpPr/>
          <p:nvPr/>
        </p:nvSpPr>
        <p:spPr>
          <a:xfrm>
            <a:off x="7369111" y="405746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8" name="ps:s15-thesis-review-cell-2-2:arrow:2"/>
          <p:cNvSpPr/>
          <p:nvPr/>
        </p:nvSpPr>
        <p:spPr>
          <a:xfrm flipH="1">
            <a:off x="7369111" y="411003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9" name="ps:s15-thesis-review:cell-text:2:3:0"/>
          <p:cNvSpPr/>
          <p:nvPr/>
        </p:nvSpPr>
        <p:spPr>
          <a:xfrm>
            <a:off x="7812405" y="3838575"/>
            <a:ext cx="369379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five-point reduction in modeled annual Search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lowers reference value by about $19/share.</a:t>
            </a:r>
            <a:endParaRPr lang="en-US" sz="1260" dirty="0"/>
          </a:p>
        </p:txBody>
      </p:sp>
      <p:sp>
        <p:nvSpPr>
          <p:cNvPr id="40" name="ps:s15-thesis-review-cell-2-3:rule"/>
          <p:cNvSpPr/>
          <p:nvPr/>
        </p:nvSpPr>
        <p:spPr>
          <a:xfrm>
            <a:off x="7698105" y="4495800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5-thesis-review:cell:3:0"/>
          <p:cNvSpPr/>
          <p:nvPr/>
        </p:nvSpPr>
        <p:spPr>
          <a:xfrm>
            <a:off x="571500" y="4533900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ps:s15-thesis-review:cell-text:3:0:0"/>
          <p:cNvSpPr/>
          <p:nvPr/>
        </p:nvSpPr>
        <p:spPr>
          <a:xfrm>
            <a:off x="685800" y="4700588"/>
            <a:ext cx="17602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update</a:t>
            </a:r>
            <a:endParaRPr lang="en-US" sz="1260" dirty="0"/>
          </a:p>
        </p:txBody>
      </p:sp>
      <p:sp>
        <p:nvSpPr>
          <p:cNvPr id="43" name="ps:s15-thesis-review-cell-3-0:rule"/>
          <p:cNvSpPr/>
          <p:nvPr/>
        </p:nvSpPr>
        <p:spPr>
          <a:xfrm>
            <a:off x="571500" y="5267325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4" name="ps:s15-thesis-review:cell-text:3:1:0"/>
          <p:cNvSpPr/>
          <p:nvPr/>
        </p:nvSpPr>
        <p:spPr>
          <a:xfrm>
            <a:off x="2674620" y="4610100"/>
            <a:ext cx="43014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issuance, preferred settlement terms, realized backstop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or spending-timing disclosure changes common-owner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claims.</a:t>
            </a:r>
            <a:endParaRPr lang="en-US" sz="1260" dirty="0"/>
          </a:p>
        </p:txBody>
      </p:sp>
      <p:sp>
        <p:nvSpPr>
          <p:cNvPr id="45" name="ps:s15-thesis-review-cell-3-1:rule"/>
          <p:cNvSpPr/>
          <p:nvPr/>
        </p:nvSpPr>
        <p:spPr>
          <a:xfrm>
            <a:off x="2560320" y="5267325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5-thesis-review-cell-3-2:arrow:0"/>
          <p:cNvSpPr/>
          <p:nvPr/>
        </p:nvSpPr>
        <p:spPr>
          <a:xfrm>
            <a:off x="7279957" y="476726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15-thesis-review-cell-3-2:arrow:1"/>
          <p:cNvSpPr/>
          <p:nvPr/>
        </p:nvSpPr>
        <p:spPr>
          <a:xfrm>
            <a:off x="7369111" y="482898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ps:s15-thesis-review-cell-3-2:arrow:2"/>
          <p:cNvSpPr/>
          <p:nvPr/>
        </p:nvSpPr>
        <p:spPr>
          <a:xfrm flipH="1">
            <a:off x="7369111" y="4881563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ps:s15-thesis-review:cell-text:3:3:0"/>
          <p:cNvSpPr/>
          <p:nvPr/>
        </p:nvSpPr>
        <p:spPr>
          <a:xfrm>
            <a:off x="7812405" y="4610100"/>
            <a:ext cx="369379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the capital bridge and funding capacity; do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treat unused authorization as proceeds.</a:t>
            </a:r>
            <a:endParaRPr lang="en-US" sz="1260" dirty="0"/>
          </a:p>
        </p:txBody>
      </p:sp>
      <p:sp>
        <p:nvSpPr>
          <p:cNvPr id="50" name="ps:s15-thesis-review-cell-3-3:rule"/>
          <p:cNvSpPr/>
          <p:nvPr/>
        </p:nvSpPr>
        <p:spPr>
          <a:xfrm>
            <a:off x="7698105" y="5267325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1" name="ps:s15-thesis-review:cell:4:0"/>
          <p:cNvSpPr/>
          <p:nvPr/>
        </p:nvSpPr>
        <p:spPr>
          <a:xfrm>
            <a:off x="571500" y="5305425"/>
            <a:ext cx="191262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ps:s15-thesis-review:cell-text:4:0:0"/>
          <p:cNvSpPr/>
          <p:nvPr/>
        </p:nvSpPr>
        <p:spPr>
          <a:xfrm>
            <a:off x="685800" y="5381625"/>
            <a:ext cx="17602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review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260" dirty="0"/>
          </a:p>
        </p:txBody>
      </p:sp>
      <p:sp>
        <p:nvSpPr>
          <p:cNvPr id="53" name="ps:s15-thesis-review:cell-text:4:1:0"/>
          <p:cNvSpPr/>
          <p:nvPr/>
        </p:nvSpPr>
        <p:spPr>
          <a:xfrm>
            <a:off x="2674620" y="5381625"/>
            <a:ext cx="43014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refreshes the evidence and model;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selects the hurdle and investment action.</a:t>
            </a:r>
            <a:endParaRPr lang="en-US" sz="1260" dirty="0"/>
          </a:p>
        </p:txBody>
      </p:sp>
      <p:sp>
        <p:nvSpPr>
          <p:cNvPr id="54" name="ps:s15-thesis-review-cell-4-2:arrow:0"/>
          <p:cNvSpPr/>
          <p:nvPr/>
        </p:nvSpPr>
        <p:spPr>
          <a:xfrm>
            <a:off x="7279957" y="54483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ps:s15-thesis-review-cell-4-2:arrow:1"/>
          <p:cNvSpPr/>
          <p:nvPr/>
        </p:nvSpPr>
        <p:spPr>
          <a:xfrm>
            <a:off x="7369111" y="5510022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ps:s15-thesis-review-cell-4-2:arrow:2"/>
          <p:cNvSpPr/>
          <p:nvPr/>
        </p:nvSpPr>
        <p:spPr>
          <a:xfrm flipH="1">
            <a:off x="7369111" y="556260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7" name="ps:s15-thesis-review:cell-text:4:3:0"/>
          <p:cNvSpPr/>
          <p:nvPr/>
        </p:nvSpPr>
        <p:spPr>
          <a:xfrm>
            <a:off x="7812405" y="5381625"/>
            <a:ext cx="369379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evidence assessment distinct from policy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selection.</a:t>
            </a:r>
            <a:endParaRPr lang="en-US" sz="12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6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new capital at $335 unless cash-return evidence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the accepted hurdle changes</a:t>
            </a:r>
            <a:endParaRPr lang="en-US" sz="2700" dirty="0"/>
          </a:p>
        </p:txBody>
      </p:sp>
      <p:sp>
        <p:nvSpPr>
          <p:cNvPr id="3" name="ps:s16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20" dirty="0"/>
          </a:p>
        </p:txBody>
      </p:sp>
      <p:sp>
        <p:nvSpPr>
          <p:cNvPr id="4" name="ps:s16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6-operating-case:heading"/>
          <p:cNvSpPr/>
          <p:nvPr/>
        </p:nvSpPr>
        <p:spPr>
          <a:xfrm>
            <a:off x="571500" y="1771650"/>
            <a:ext cx="51149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strength has not yet funded the cash-return</a:t>
            </a:r>
            <a:endParaRPr lang="en-US" sz="144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440" dirty="0"/>
          </a:p>
        </p:txBody>
      </p:sp>
      <p:sp>
        <p:nvSpPr>
          <p:cNvPr id="6" name="ps:s16-countercase:heading"/>
          <p:cNvSpPr/>
          <p:nvPr/>
        </p:nvSpPr>
        <p:spPr>
          <a:xfrm>
            <a:off x="6505575" y="1771650"/>
            <a:ext cx="51149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Reopening the decision requires an explicit underwriting</a:t>
            </a:r>
            <a:endParaRPr lang="en-US" sz="144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1440" dirty="0"/>
          </a:p>
        </p:txBody>
      </p:sp>
      <p:sp>
        <p:nvSpPr>
          <p:cNvPr id="7" name="ps:s16-operating-evidence:marker:0"/>
          <p:cNvSpPr/>
          <p:nvPr/>
        </p:nvSpPr>
        <p:spPr>
          <a:xfrm>
            <a:off x="571500" y="25669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ps:s16-operating-evidence:item:0"/>
          <p:cNvSpPr/>
          <p:nvPr/>
        </p:nvSpPr>
        <p:spPr>
          <a:xfrm>
            <a:off x="723900" y="2495550"/>
            <a:ext cx="49625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grew 16.8% and Cloud reached a 35.6% margin, supporting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case without establishing AI unit economics.</a:t>
            </a:r>
            <a:endParaRPr lang="en-US" sz="1260" dirty="0"/>
          </a:p>
        </p:txBody>
      </p:sp>
      <p:sp>
        <p:nvSpPr>
          <p:cNvPr id="9" name="ps:s16-operating-evidence:marker:1"/>
          <p:cNvSpPr/>
          <p:nvPr/>
        </p:nvSpPr>
        <p:spPr>
          <a:xfrm>
            <a:off x="571500" y="3005137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ps:s16-operating-evidence:item:1"/>
          <p:cNvSpPr/>
          <p:nvPr/>
        </p:nvSpPr>
        <p:spPr>
          <a:xfrm>
            <a:off x="723900" y="2933700"/>
            <a:ext cx="49625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operating cash of $39.1bn fell short of $44.9bn capex. H1 free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was only $4.3bn, so GAAP profit does not measure funds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after investment.</a:t>
            </a:r>
            <a:endParaRPr lang="en-US" sz="1260" dirty="0"/>
          </a:p>
        </p:txBody>
      </p:sp>
      <p:sp>
        <p:nvSpPr>
          <p:cNvPr id="11" name="ps:s16-operating-evidence:marker:2"/>
          <p:cNvSpPr/>
          <p:nvPr/>
        </p:nvSpPr>
        <p:spPr>
          <a:xfrm>
            <a:off x="571500" y="36242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ps:s16-operating-evidence:item:2"/>
          <p:cNvSpPr/>
          <p:nvPr/>
        </p:nvSpPr>
        <p:spPr>
          <a:xfrm>
            <a:off x="723900" y="3552825"/>
            <a:ext cx="4962525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$185 reference value already assumes Cloud reaches $419bn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capital intensity halves. With 89% of enterprise value in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period, it depends on sustained cash recovery rather than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distress.</a:t>
            </a:r>
            <a:endParaRPr lang="en-US" sz="1260" dirty="0"/>
          </a:p>
        </p:txBody>
      </p:sp>
      <p:sp>
        <p:nvSpPr>
          <p:cNvPr id="13" name="ps:s16-decision-inference:before"/>
          <p:cNvSpPr/>
          <p:nvPr/>
        </p:nvSpPr>
        <p:spPr>
          <a:xfrm>
            <a:off x="6096000" y="2495550"/>
            <a:ext cx="0" cy="8286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14" name="ps:s16-decision-inference:after"/>
          <p:cNvSpPr/>
          <p:nvPr/>
        </p:nvSpPr>
        <p:spPr>
          <a:xfrm>
            <a:off x="6096000" y="3629025"/>
            <a:ext cx="0" cy="8286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15" name="ps:s16-decision-inference:chevron"/>
          <p:cNvSpPr/>
          <p:nvPr/>
        </p:nvSpPr>
        <p:spPr>
          <a:xfrm>
            <a:off x="6010275" y="3362325"/>
            <a:ext cx="171450" cy="228600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ps:s16-countercase-and-scope:marker:0"/>
          <p:cNvSpPr/>
          <p:nvPr/>
        </p:nvSpPr>
        <p:spPr>
          <a:xfrm>
            <a:off x="6505575" y="25669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ps:s16-countercase-and-scope:item:0"/>
          <p:cNvSpPr/>
          <p:nvPr/>
        </p:nvSpPr>
        <p:spPr>
          <a:xfrm>
            <a:off x="6657975" y="2495550"/>
            <a:ext cx="4962525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upside execution at an 8% assumed WACC gives $444 of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value. Accepting that countercase requires separate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judgments on growth durability, capital efficiency and assumed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WACC.</a:t>
            </a:r>
            <a:endParaRPr lang="en-US" sz="1260" dirty="0"/>
          </a:p>
        </p:txBody>
      </p:sp>
      <p:sp>
        <p:nvSpPr>
          <p:cNvPr id="18" name="ps:s16-countercase-and-scope:marker:1"/>
          <p:cNvSpPr/>
          <p:nvPr/>
        </p:nvSpPr>
        <p:spPr>
          <a:xfrm>
            <a:off x="6505575" y="33670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ps:s16-countercase-and-scope:item:1"/>
          <p:cNvSpPr/>
          <p:nvPr/>
        </p:nvSpPr>
        <p:spPr>
          <a:xfrm>
            <a:off x="6657975" y="3295650"/>
            <a:ext cx="49625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Buy boundary starts at $402.02 of supported value, but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has not supplied a hurdle or buffer policy. Those are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choices, not observed facts.</a:t>
            </a:r>
            <a:endParaRPr lang="en-US" sz="1260" dirty="0"/>
          </a:p>
        </p:txBody>
      </p:sp>
      <p:sp>
        <p:nvSpPr>
          <p:cNvPr id="20" name="ps:s16-countercase-and-scope:marker:2"/>
          <p:cNvSpPr/>
          <p:nvPr/>
        </p:nvSpPr>
        <p:spPr>
          <a:xfrm>
            <a:off x="6505575" y="39862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ps:s16-countercase-and-scope:item:2"/>
          <p:cNvSpPr/>
          <p:nvPr/>
        </p:nvSpPr>
        <p:spPr>
          <a:xfrm>
            <a:off x="6657975" y="3914775"/>
            <a:ext cx="49625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Existing-position sizing, tax and portfolio-risk decisions require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 and policy inputs that were not provided; this review is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committing new capital.</a:t>
            </a:r>
            <a:endParaRPr lang="en-US" sz="1260" dirty="0"/>
          </a:p>
        </p:txBody>
      </p:sp>
      <p:sp>
        <p:nvSpPr>
          <p:cNvPr id="22" name="ps:s16-closing-review-sequence:surface"/>
          <p:cNvSpPr/>
          <p:nvPr/>
        </p:nvSpPr>
        <p:spPr>
          <a:xfrm>
            <a:off x="571500" y="4686300"/>
            <a:ext cx="11049000" cy="66675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ps:s16-closing-review-sequence:body"/>
          <p:cNvSpPr/>
          <p:nvPr/>
        </p:nvSpPr>
        <p:spPr>
          <a:xfrm>
            <a:off x="800100" y="483870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evidence review from WACC approval: have the analyst test the next earnings or material remedy/financing disclosure, then bring changed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to the committee before committing capital.</a:t>
            </a:r>
            <a:endParaRPr lang="en-US" sz="12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7-chrome:title"/>
          <p:cNvSpPr/>
          <p:nvPr/>
        </p:nvSpPr>
        <p:spPr>
          <a:xfrm>
            <a:off x="571500" y="457200"/>
            <a:ext cx="11049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and cash definitions separate reported performance from analyst</a:t>
            </a:r>
            <a:endParaRPr lang="en-US" sz="24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adjustments</a:t>
            </a:r>
            <a:endParaRPr lang="en-US" sz="2400" dirty="0"/>
          </a:p>
        </p:txBody>
      </p:sp>
      <p:sp>
        <p:nvSpPr>
          <p:cNvPr id="3" name="ps:s17-chrome:page-number"/>
          <p:cNvSpPr/>
          <p:nvPr/>
        </p:nvSpPr>
        <p:spPr>
          <a:xfrm>
            <a:off x="11391900" y="6572250"/>
            <a:ext cx="2286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40" dirty="0"/>
          </a:p>
        </p:txBody>
      </p:sp>
      <p:sp>
        <p:nvSpPr>
          <p:cNvPr id="4" name="ps:s17-chrome:source"/>
          <p:cNvSpPr/>
          <p:nvPr/>
        </p:nvSpPr>
        <p:spPr>
          <a:xfrm>
            <a:off x="571500" y="6572250"/>
            <a:ext cx="106680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 Exact cash adjustments: accompanying model.</a:t>
            </a:r>
            <a:endParaRPr lang="en-US" sz="640" dirty="0"/>
          </a:p>
        </p:txBody>
      </p:sp>
      <p:sp>
        <p:nvSpPr>
          <p:cNvPr id="5" name="ps:s17-earnings-cash-definitions:header-text:0"/>
          <p:cNvSpPr/>
          <p:nvPr/>
        </p:nvSpPr>
        <p:spPr>
          <a:xfrm>
            <a:off x="685800" y="1790700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20" dirty="0"/>
          </a:p>
        </p:txBody>
      </p:sp>
      <p:sp>
        <p:nvSpPr>
          <p:cNvPr id="6" name="ps:s17-earnings-cash-definitions:header-rule:0"/>
          <p:cNvSpPr/>
          <p:nvPr/>
        </p:nvSpPr>
        <p:spPr>
          <a:xfrm>
            <a:off x="571500" y="20669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7-earnings-cash-definitions:header-text:1"/>
          <p:cNvSpPr/>
          <p:nvPr/>
        </p:nvSpPr>
        <p:spPr>
          <a:xfrm>
            <a:off x="3227070" y="1790700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and value</a:t>
            </a:r>
            <a:endParaRPr lang="en-US" sz="1120" dirty="0"/>
          </a:p>
        </p:txBody>
      </p:sp>
      <p:sp>
        <p:nvSpPr>
          <p:cNvPr id="8" name="ps:s17-earnings-cash-definitions:header-rule:1"/>
          <p:cNvSpPr/>
          <p:nvPr/>
        </p:nvSpPr>
        <p:spPr>
          <a:xfrm>
            <a:off x="3112770" y="20669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7-earnings-cash-definitions:header-text:2"/>
          <p:cNvSpPr/>
          <p:nvPr/>
        </p:nvSpPr>
        <p:spPr>
          <a:xfrm>
            <a:off x="7646670" y="1790700"/>
            <a:ext cx="38595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20" dirty="0"/>
          </a:p>
        </p:txBody>
      </p:sp>
      <p:sp>
        <p:nvSpPr>
          <p:cNvPr id="10" name="ps:s17-earnings-cash-definitions:header-rule:2"/>
          <p:cNvSpPr/>
          <p:nvPr/>
        </p:nvSpPr>
        <p:spPr>
          <a:xfrm>
            <a:off x="7532370" y="20669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7-earnings-cash-definitions:cell:0:0"/>
          <p:cNvSpPr/>
          <p:nvPr/>
        </p:nvSpPr>
        <p:spPr>
          <a:xfrm>
            <a:off x="571500" y="2105025"/>
            <a:ext cx="246507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7-earnings-cash-definitions:cell-text:0:0:0"/>
          <p:cNvSpPr/>
          <p:nvPr/>
        </p:nvSpPr>
        <p:spPr>
          <a:xfrm>
            <a:off x="685800" y="2214563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Q2 EPS</a:t>
            </a:r>
            <a:endParaRPr lang="en-US" sz="1120" dirty="0"/>
          </a:p>
        </p:txBody>
      </p:sp>
      <p:sp>
        <p:nvSpPr>
          <p:cNvPr id="13" name="ps:s17-earnings-cash-definitions-cell-0-0:rule"/>
          <p:cNvSpPr/>
          <p:nvPr/>
        </p:nvSpPr>
        <p:spPr>
          <a:xfrm>
            <a:off x="571500" y="25241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7-earnings-cash-definitions:cell-text:0:1:0"/>
          <p:cNvSpPr/>
          <p:nvPr/>
        </p:nvSpPr>
        <p:spPr>
          <a:xfrm>
            <a:off x="3227070" y="21812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$9.11, GAAP diluted common EPS</a:t>
            </a:r>
            <a:endParaRPr lang="en-US" sz="1120" dirty="0"/>
          </a:p>
        </p:txBody>
      </p:sp>
      <p:sp>
        <p:nvSpPr>
          <p:cNvPr id="15" name="ps:s17-earnings-cash-definitions-cell-0-1:rule"/>
          <p:cNvSpPr/>
          <p:nvPr/>
        </p:nvSpPr>
        <p:spPr>
          <a:xfrm>
            <a:off x="3112770" y="25241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7-earnings-cash-definitions:cell-text:0:2:0"/>
          <p:cNvSpPr/>
          <p:nvPr/>
        </p:nvSpPr>
        <p:spPr>
          <a:xfrm>
            <a:off x="7646670" y="2181225"/>
            <a:ext cx="38595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investment mark gains.</a:t>
            </a:r>
            <a:endParaRPr lang="en-US" sz="1120" dirty="0"/>
          </a:p>
        </p:txBody>
      </p:sp>
      <p:sp>
        <p:nvSpPr>
          <p:cNvPr id="17" name="ps:s17-earnings-cash-definitions-cell-0-2:rule"/>
          <p:cNvSpPr/>
          <p:nvPr/>
        </p:nvSpPr>
        <p:spPr>
          <a:xfrm>
            <a:off x="7532370" y="25241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17-earnings-cash-definitions:cell:1:0"/>
          <p:cNvSpPr/>
          <p:nvPr/>
        </p:nvSpPr>
        <p:spPr>
          <a:xfrm>
            <a:off x="571500" y="256222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ps:s17-earnings-cash-definitions:cell-text:1:0:0"/>
          <p:cNvSpPr/>
          <p:nvPr/>
        </p:nvSpPr>
        <p:spPr>
          <a:xfrm>
            <a:off x="685800" y="2719387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Equity-gain effect</a:t>
            </a:r>
            <a:endParaRPr lang="en-US" sz="1120" dirty="0"/>
          </a:p>
        </p:txBody>
      </p:sp>
      <p:sp>
        <p:nvSpPr>
          <p:cNvPr id="20" name="ps:s17-earnings-cash-definitions-cell-1-0:rule"/>
          <p:cNvSpPr/>
          <p:nvPr/>
        </p:nvSpPr>
        <p:spPr>
          <a:xfrm>
            <a:off x="571500" y="307657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7-earnings-cash-definitions:cell-text:1:1:0"/>
          <p:cNvSpPr/>
          <p:nvPr/>
        </p:nvSpPr>
        <p:spPr>
          <a:xfrm>
            <a:off x="3227070" y="26384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$6.26/share, company-disclosed after-tax effect</a:t>
            </a:r>
            <a:endParaRPr lang="en-US" sz="1120" dirty="0"/>
          </a:p>
        </p:txBody>
      </p:sp>
      <p:sp>
        <p:nvSpPr>
          <p:cNvPr id="22" name="ps:s17-earnings-cash-definitions-cell-1-1:rule"/>
          <p:cNvSpPr/>
          <p:nvPr/>
        </p:nvSpPr>
        <p:spPr>
          <a:xfrm>
            <a:off x="3112770" y="307657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17-earnings-cash-definitions:cell-text:1:2:0"/>
          <p:cNvSpPr/>
          <p:nvPr/>
        </p:nvSpPr>
        <p:spPr>
          <a:xfrm>
            <a:off x="7646670" y="263842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equity gains, not every non-operating or unusual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item.</a:t>
            </a:r>
            <a:endParaRPr lang="en-US" sz="1120" dirty="0"/>
          </a:p>
        </p:txBody>
      </p:sp>
      <p:sp>
        <p:nvSpPr>
          <p:cNvPr id="24" name="ps:s17-earnings-cash-definitions-cell-1-2:rule"/>
          <p:cNvSpPr/>
          <p:nvPr/>
        </p:nvSpPr>
        <p:spPr>
          <a:xfrm>
            <a:off x="7532370" y="307657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7-earnings-cash-definitions:cell:2:0"/>
          <p:cNvSpPr/>
          <p:nvPr/>
        </p:nvSpPr>
        <p:spPr>
          <a:xfrm>
            <a:off x="571500" y="311467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ps:s17-earnings-cash-definitions:cell-text:2:0:0"/>
          <p:cNvSpPr/>
          <p:nvPr/>
        </p:nvSpPr>
        <p:spPr>
          <a:xfrm>
            <a:off x="685800" y="3271838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Gain-stripped Q2 EPS</a:t>
            </a:r>
            <a:endParaRPr lang="en-US" sz="1120" dirty="0"/>
          </a:p>
        </p:txBody>
      </p:sp>
      <p:sp>
        <p:nvSpPr>
          <p:cNvPr id="27" name="ps:s17-earnings-cash-definitions-cell-2-0:rule"/>
          <p:cNvSpPr/>
          <p:nvPr/>
        </p:nvSpPr>
        <p:spPr>
          <a:xfrm>
            <a:off x="571500" y="36290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17-earnings-cash-definitions:cell-text:2:1:0"/>
          <p:cNvSpPr/>
          <p:nvPr/>
        </p:nvSpPr>
        <p:spPr>
          <a:xfrm>
            <a:off x="3227070" y="319087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$9.11 − $6.26 = $2.85</a:t>
            </a:r>
            <a:endParaRPr lang="en-US" sz="1120" dirty="0"/>
          </a:p>
        </p:txBody>
      </p:sp>
      <p:sp>
        <p:nvSpPr>
          <p:cNvPr id="29" name="ps:s17-earnings-cash-definitions-cell-2-1:rule"/>
          <p:cNvSpPr/>
          <p:nvPr/>
        </p:nvSpPr>
        <p:spPr>
          <a:xfrm>
            <a:off x="3112770" y="36290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17-earnings-cash-definitions:cell-text:2:2:0"/>
          <p:cNvSpPr/>
          <p:nvPr/>
        </p:nvSpPr>
        <p:spPr>
          <a:xfrm>
            <a:off x="7646670" y="319087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arithmetic, not company adjusted EPS or a fully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base.</a:t>
            </a:r>
            <a:endParaRPr lang="en-US" sz="1120" dirty="0"/>
          </a:p>
        </p:txBody>
      </p:sp>
      <p:sp>
        <p:nvSpPr>
          <p:cNvPr id="31" name="ps:s17-earnings-cash-definitions-cell-2-2:rule"/>
          <p:cNvSpPr/>
          <p:nvPr/>
        </p:nvSpPr>
        <p:spPr>
          <a:xfrm>
            <a:off x="7532370" y="36290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2" name="ps:s17-earnings-cash-definitions:cell:3:0"/>
          <p:cNvSpPr/>
          <p:nvPr/>
        </p:nvSpPr>
        <p:spPr>
          <a:xfrm>
            <a:off x="571500" y="3667125"/>
            <a:ext cx="246507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ps:s17-earnings-cash-definitions:cell-text:3:0:0"/>
          <p:cNvSpPr/>
          <p:nvPr/>
        </p:nvSpPr>
        <p:spPr>
          <a:xfrm>
            <a:off x="685800" y="3776662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run-rate P/E</a:t>
            </a:r>
            <a:endParaRPr lang="en-US" sz="1120" dirty="0"/>
          </a:p>
        </p:txBody>
      </p:sp>
      <p:sp>
        <p:nvSpPr>
          <p:cNvPr id="34" name="ps:s17-earnings-cash-definitions-cell-3-0:rule"/>
          <p:cNvSpPr/>
          <p:nvPr/>
        </p:nvSpPr>
        <p:spPr>
          <a:xfrm>
            <a:off x="571500" y="40862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17-earnings-cash-definitions:cell-text:3:1:0"/>
          <p:cNvSpPr/>
          <p:nvPr/>
        </p:nvSpPr>
        <p:spPr>
          <a:xfrm>
            <a:off x="3227070" y="37433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$335.02 / ($2.85 × 4) = 29.4×</a:t>
            </a:r>
            <a:endParaRPr lang="en-US" sz="1120" dirty="0"/>
          </a:p>
        </p:txBody>
      </p:sp>
      <p:sp>
        <p:nvSpPr>
          <p:cNvPr id="36" name="ps:s17-earnings-cash-definitions-cell-3-1:rule"/>
          <p:cNvSpPr/>
          <p:nvPr/>
        </p:nvSpPr>
        <p:spPr>
          <a:xfrm>
            <a:off x="3112770" y="40862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17-earnings-cash-definitions:cell-text:3:2:0"/>
          <p:cNvSpPr/>
          <p:nvPr/>
        </p:nvSpPr>
        <p:spPr>
          <a:xfrm>
            <a:off x="7646670" y="3743325"/>
            <a:ext cx="38595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annualization is not TTM or a seasonal forecast.</a:t>
            </a:r>
            <a:endParaRPr lang="en-US" sz="1120" dirty="0"/>
          </a:p>
        </p:txBody>
      </p:sp>
      <p:sp>
        <p:nvSpPr>
          <p:cNvPr id="38" name="ps:s17-earnings-cash-definitions-cell-3-2:rule"/>
          <p:cNvSpPr/>
          <p:nvPr/>
        </p:nvSpPr>
        <p:spPr>
          <a:xfrm>
            <a:off x="7532370" y="40862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7-earnings-cash-definitions:cell:4:0"/>
          <p:cNvSpPr/>
          <p:nvPr/>
        </p:nvSpPr>
        <p:spPr>
          <a:xfrm>
            <a:off x="571500" y="412432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ps:s17-earnings-cash-definitions:cell-text:4:0:0"/>
          <p:cNvSpPr/>
          <p:nvPr/>
        </p:nvSpPr>
        <p:spPr>
          <a:xfrm>
            <a:off x="685800" y="4281488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H1 FCF</a:t>
            </a:r>
            <a:endParaRPr lang="en-US" sz="1120" dirty="0"/>
          </a:p>
        </p:txBody>
      </p:sp>
      <p:sp>
        <p:nvSpPr>
          <p:cNvPr id="41" name="ps:s17-earnings-cash-definitions-cell-4-0:rule"/>
          <p:cNvSpPr/>
          <p:nvPr/>
        </p:nvSpPr>
        <p:spPr>
          <a:xfrm>
            <a:off x="571500" y="463867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2" name="ps:s17-earnings-cash-definitions:cell-text:4:1:0"/>
          <p:cNvSpPr/>
          <p:nvPr/>
        </p:nvSpPr>
        <p:spPr>
          <a:xfrm>
            <a:off x="3227070" y="42005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$84.859 CFO − $80.598 capex = $4.261bn</a:t>
            </a:r>
            <a:endParaRPr lang="en-US" sz="1120" dirty="0"/>
          </a:p>
        </p:txBody>
      </p:sp>
      <p:sp>
        <p:nvSpPr>
          <p:cNvPr id="43" name="ps:s17-earnings-cash-definitions-cell-4-1:rule"/>
          <p:cNvSpPr/>
          <p:nvPr/>
        </p:nvSpPr>
        <p:spPr>
          <a:xfrm>
            <a:off x="3112770" y="463867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4" name="ps:s17-earnings-cash-definitions:cell-text:4:2:0"/>
          <p:cNvSpPr/>
          <p:nvPr/>
        </p:nvSpPr>
        <p:spPr>
          <a:xfrm>
            <a:off x="7646670" y="420052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deduct economic SBC, acquisitions or financing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uses.</a:t>
            </a:r>
            <a:endParaRPr lang="en-US" sz="1120" dirty="0"/>
          </a:p>
        </p:txBody>
      </p:sp>
      <p:sp>
        <p:nvSpPr>
          <p:cNvPr id="45" name="ps:s17-earnings-cash-definitions-cell-4-2:rule"/>
          <p:cNvSpPr/>
          <p:nvPr/>
        </p:nvSpPr>
        <p:spPr>
          <a:xfrm>
            <a:off x="7532370" y="463867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7-earnings-cash-definitions:cell:5:0"/>
          <p:cNvSpPr/>
          <p:nvPr/>
        </p:nvSpPr>
        <p:spPr>
          <a:xfrm>
            <a:off x="571500" y="467677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17-earnings-cash-definitions:cell-text:5:0:0"/>
          <p:cNvSpPr/>
          <p:nvPr/>
        </p:nvSpPr>
        <p:spPr>
          <a:xfrm>
            <a:off x="685800" y="4833937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Economic-SBC diagnostic</a:t>
            </a:r>
            <a:endParaRPr lang="en-US" sz="1120" dirty="0"/>
          </a:p>
        </p:txBody>
      </p:sp>
      <p:sp>
        <p:nvSpPr>
          <p:cNvPr id="48" name="ps:s17-earnings-cash-definitions-cell-5-0:rule"/>
          <p:cNvSpPr/>
          <p:nvPr/>
        </p:nvSpPr>
        <p:spPr>
          <a:xfrm>
            <a:off x="571500" y="51911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9" name="ps:s17-earnings-cash-definitions:cell-text:5:1:0"/>
          <p:cNvSpPr/>
          <p:nvPr/>
        </p:nvSpPr>
        <p:spPr>
          <a:xfrm>
            <a:off x="3227070" y="475297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$4.261 FCF − $14.708 SBC = -$10.447bn</a:t>
            </a:r>
            <a:endParaRPr lang="en-US" sz="1120" dirty="0"/>
          </a:p>
        </p:txBody>
      </p:sp>
      <p:sp>
        <p:nvSpPr>
          <p:cNvPr id="50" name="ps:s17-earnings-cash-definitions-cell-5-1:rule"/>
          <p:cNvSpPr/>
          <p:nvPr/>
        </p:nvSpPr>
        <p:spPr>
          <a:xfrm>
            <a:off x="3112770" y="51911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1" name="ps:s17-earnings-cash-definitions:cell-text:5:2:0"/>
          <p:cNvSpPr/>
          <p:nvPr/>
        </p:nvSpPr>
        <p:spPr>
          <a:xfrm>
            <a:off x="7646670" y="475297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owner-cash proxy; do not relabel as reported FCF or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it twice.</a:t>
            </a:r>
            <a:endParaRPr lang="en-US" sz="1120" dirty="0"/>
          </a:p>
        </p:txBody>
      </p:sp>
      <p:sp>
        <p:nvSpPr>
          <p:cNvPr id="52" name="ps:s17-earnings-cash-definitions-cell-5-2:rule"/>
          <p:cNvSpPr/>
          <p:nvPr/>
        </p:nvSpPr>
        <p:spPr>
          <a:xfrm>
            <a:off x="7532370" y="51911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3" name="ps:s17-earnings-cash-definitions:cell:6:0"/>
          <p:cNvSpPr/>
          <p:nvPr/>
        </p:nvSpPr>
        <p:spPr>
          <a:xfrm>
            <a:off x="571500" y="522922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ps:s17-earnings-cash-definitions:cell-text:6:0:0"/>
          <p:cNvSpPr/>
          <p:nvPr/>
        </p:nvSpPr>
        <p:spPr>
          <a:xfrm>
            <a:off x="685800" y="5386388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Q2 legal charges</a:t>
            </a:r>
            <a:endParaRPr lang="en-US" sz="1120" dirty="0"/>
          </a:p>
        </p:txBody>
      </p:sp>
      <p:sp>
        <p:nvSpPr>
          <p:cNvPr id="55" name="ps:s17-earnings-cash-definitions:cell-text:6:1:0"/>
          <p:cNvSpPr/>
          <p:nvPr/>
        </p:nvSpPr>
        <p:spPr>
          <a:xfrm>
            <a:off x="3227070" y="53054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$1.500bn operating expense and $0.581bn OI&amp;E for PriceRunner</a:t>
            </a:r>
            <a:endParaRPr lang="en-US" sz="1120" dirty="0"/>
          </a:p>
        </p:txBody>
      </p:sp>
      <p:sp>
        <p:nvSpPr>
          <p:cNvPr id="56" name="ps:s17-earnings-cash-definitions:cell-text:6:2:0"/>
          <p:cNvSpPr/>
          <p:nvPr/>
        </p:nvSpPr>
        <p:spPr>
          <a:xfrm>
            <a:off x="7646670" y="530542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remain; company-disclosed tax/EPS effects avoid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imputing a gains tax rate.</a:t>
            </a:r>
            <a:endParaRPr lang="en-US" sz="11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8-chrome:title"/>
          <p:cNvSpPr/>
          <p:nvPr/>
        </p:nvSpPr>
        <p:spPr>
          <a:xfrm>
            <a:off x="571500" y="457200"/>
            <a:ext cx="11049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scenarios retain AI costs, capital spending and working-capital</a:t>
            </a:r>
            <a:endParaRPr lang="en-US" sz="24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3" name="ps:s18-chrome:page-number"/>
          <p:cNvSpPr/>
          <p:nvPr/>
        </p:nvSpPr>
        <p:spPr>
          <a:xfrm>
            <a:off x="11391900" y="6572250"/>
            <a:ext cx="2286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40" dirty="0"/>
          </a:p>
        </p:txBody>
      </p:sp>
      <p:sp>
        <p:nvSpPr>
          <p:cNvPr id="4" name="ps:s18-chrome:source"/>
          <p:cNvSpPr/>
          <p:nvPr/>
        </p:nvSpPr>
        <p:spPr>
          <a:xfrm>
            <a:off x="571500" y="6572250"/>
            <a:ext cx="106680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640" dirty="0"/>
          </a:p>
        </p:txBody>
      </p:sp>
      <p:sp>
        <p:nvSpPr>
          <p:cNvPr id="5" name="ps:s18-appendix-18-related:separator"/>
          <p:cNvSpPr/>
          <p:nvPr/>
        </p:nvSpPr>
        <p:spPr>
          <a:xfrm>
            <a:off x="7848600" y="1676400"/>
            <a:ext cx="0" cy="468630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6" name="ps:s18-s18-table-title:heading"/>
          <p:cNvSpPr/>
          <p:nvPr/>
        </p:nvSpPr>
        <p:spPr>
          <a:xfrm>
            <a:off x="571500" y="1676400"/>
            <a:ext cx="701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cash-flow schedule</a:t>
            </a:r>
            <a:endParaRPr lang="en-US" sz="1280" dirty="0"/>
          </a:p>
        </p:txBody>
      </p:sp>
      <p:sp>
        <p:nvSpPr>
          <p:cNvPr id="7" name="ps:s18-s18-table-title:rule"/>
          <p:cNvSpPr/>
          <p:nvPr/>
        </p:nvSpPr>
        <p:spPr>
          <a:xfrm>
            <a:off x="571500" y="19431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8-annual-reference-model:header-text:0"/>
          <p:cNvSpPr/>
          <p:nvPr/>
        </p:nvSpPr>
        <p:spPr>
          <a:xfrm>
            <a:off x="685800" y="2324100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bn</a:t>
            </a:r>
            <a:endParaRPr lang="en-US" sz="1120" dirty="0"/>
          </a:p>
        </p:txBody>
      </p:sp>
      <p:sp>
        <p:nvSpPr>
          <p:cNvPr id="9" name="ps:s18-annual-reference-model:header-rule:0"/>
          <p:cNvSpPr/>
          <p:nvPr/>
        </p:nvSpPr>
        <p:spPr>
          <a:xfrm>
            <a:off x="571500" y="26003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0" name="ps:s18-annual-reference-model:header-text:1"/>
          <p:cNvSpPr/>
          <p:nvPr/>
        </p:nvSpPr>
        <p:spPr>
          <a:xfrm>
            <a:off x="2508504" y="23241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120" dirty="0"/>
          </a:p>
        </p:txBody>
      </p:sp>
      <p:sp>
        <p:nvSpPr>
          <p:cNvPr id="11" name="ps:s18-annual-reference-model:header-rule:1"/>
          <p:cNvSpPr/>
          <p:nvPr/>
        </p:nvSpPr>
        <p:spPr>
          <a:xfrm>
            <a:off x="2394204" y="2600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2" name="ps:s18-annual-reference-model:header-text:2"/>
          <p:cNvSpPr/>
          <p:nvPr/>
        </p:nvSpPr>
        <p:spPr>
          <a:xfrm>
            <a:off x="3546043" y="23241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2028</a:t>
            </a:r>
            <a:endParaRPr lang="en-US" sz="1120" dirty="0"/>
          </a:p>
        </p:txBody>
      </p:sp>
      <p:sp>
        <p:nvSpPr>
          <p:cNvPr id="13" name="ps:s18-annual-reference-model:header-rule:2"/>
          <p:cNvSpPr/>
          <p:nvPr/>
        </p:nvSpPr>
        <p:spPr>
          <a:xfrm>
            <a:off x="3431743" y="2600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8-annual-reference-model:header-text:3"/>
          <p:cNvSpPr/>
          <p:nvPr/>
        </p:nvSpPr>
        <p:spPr>
          <a:xfrm>
            <a:off x="4583583" y="23241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2029</a:t>
            </a:r>
            <a:endParaRPr lang="en-US" sz="1120" dirty="0"/>
          </a:p>
        </p:txBody>
      </p:sp>
      <p:sp>
        <p:nvSpPr>
          <p:cNvPr id="15" name="ps:s18-annual-reference-model:header-rule:3"/>
          <p:cNvSpPr/>
          <p:nvPr/>
        </p:nvSpPr>
        <p:spPr>
          <a:xfrm>
            <a:off x="4469283" y="2600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8-annual-reference-model:header-text:4"/>
          <p:cNvSpPr/>
          <p:nvPr/>
        </p:nvSpPr>
        <p:spPr>
          <a:xfrm>
            <a:off x="5621121" y="23241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2030</a:t>
            </a:r>
            <a:endParaRPr lang="en-US" sz="1120" dirty="0"/>
          </a:p>
        </p:txBody>
      </p:sp>
      <p:sp>
        <p:nvSpPr>
          <p:cNvPr id="17" name="ps:s18-annual-reference-model:header-rule:4"/>
          <p:cNvSpPr/>
          <p:nvPr/>
        </p:nvSpPr>
        <p:spPr>
          <a:xfrm>
            <a:off x="5506821" y="2600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18-annual-reference-model:header-text:5"/>
          <p:cNvSpPr/>
          <p:nvPr/>
        </p:nvSpPr>
        <p:spPr>
          <a:xfrm>
            <a:off x="6658661" y="23241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2031</a:t>
            </a:r>
            <a:endParaRPr lang="en-US" sz="1120" dirty="0"/>
          </a:p>
        </p:txBody>
      </p:sp>
      <p:sp>
        <p:nvSpPr>
          <p:cNvPr id="19" name="ps:s18-annual-reference-model:header-rule:5"/>
          <p:cNvSpPr/>
          <p:nvPr/>
        </p:nvSpPr>
        <p:spPr>
          <a:xfrm>
            <a:off x="6544361" y="2600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0" name="ps:s18-annual-reference-model:cell:0:0"/>
          <p:cNvSpPr/>
          <p:nvPr/>
        </p:nvSpPr>
        <p:spPr>
          <a:xfrm>
            <a:off x="571500" y="26384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ps:s18-annual-reference-model:cell-text:0:0:0"/>
          <p:cNvSpPr/>
          <p:nvPr/>
        </p:nvSpPr>
        <p:spPr>
          <a:xfrm>
            <a:off x="685800" y="27479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20" dirty="0"/>
          </a:p>
        </p:txBody>
      </p:sp>
      <p:sp>
        <p:nvSpPr>
          <p:cNvPr id="22" name="ps:s18-annual-reference-model-cell-0-0:rule"/>
          <p:cNvSpPr/>
          <p:nvPr/>
        </p:nvSpPr>
        <p:spPr>
          <a:xfrm>
            <a:off x="571500" y="30575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18-annual-reference-model:cell-text:0:1:0"/>
          <p:cNvSpPr/>
          <p:nvPr/>
        </p:nvSpPr>
        <p:spPr>
          <a:xfrm>
            <a:off x="2508504" y="2714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583.720</a:t>
            </a:r>
            <a:endParaRPr lang="en-US" sz="1120" dirty="0"/>
          </a:p>
        </p:txBody>
      </p:sp>
      <p:sp>
        <p:nvSpPr>
          <p:cNvPr id="24" name="ps:s18-annual-reference-model-cell-0-1:rule"/>
          <p:cNvSpPr/>
          <p:nvPr/>
        </p:nvSpPr>
        <p:spPr>
          <a:xfrm>
            <a:off x="2394204" y="3057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8-annual-reference-model:cell-text:0:2:0"/>
          <p:cNvSpPr/>
          <p:nvPr/>
        </p:nvSpPr>
        <p:spPr>
          <a:xfrm>
            <a:off x="3546043" y="2714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692.453</a:t>
            </a:r>
            <a:endParaRPr lang="en-US" sz="1120" dirty="0"/>
          </a:p>
        </p:txBody>
      </p:sp>
      <p:sp>
        <p:nvSpPr>
          <p:cNvPr id="26" name="ps:s18-annual-reference-model-cell-0-2:rule"/>
          <p:cNvSpPr/>
          <p:nvPr/>
        </p:nvSpPr>
        <p:spPr>
          <a:xfrm>
            <a:off x="3431743" y="3057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7" name="ps:s18-annual-reference-model:cell-text:0:3:0"/>
          <p:cNvSpPr/>
          <p:nvPr/>
        </p:nvSpPr>
        <p:spPr>
          <a:xfrm>
            <a:off x="4583583" y="2714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801.543</a:t>
            </a:r>
            <a:endParaRPr lang="en-US" sz="1120" dirty="0"/>
          </a:p>
        </p:txBody>
      </p:sp>
      <p:sp>
        <p:nvSpPr>
          <p:cNvPr id="28" name="ps:s18-annual-reference-model-cell-0-3:rule"/>
          <p:cNvSpPr/>
          <p:nvPr/>
        </p:nvSpPr>
        <p:spPr>
          <a:xfrm>
            <a:off x="4469283" y="3057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9" name="ps:s18-annual-reference-model:cell-text:0:4:0"/>
          <p:cNvSpPr/>
          <p:nvPr/>
        </p:nvSpPr>
        <p:spPr>
          <a:xfrm>
            <a:off x="5621121" y="2714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911.436</a:t>
            </a:r>
            <a:endParaRPr lang="en-US" sz="1120" dirty="0"/>
          </a:p>
        </p:txBody>
      </p:sp>
      <p:sp>
        <p:nvSpPr>
          <p:cNvPr id="30" name="ps:s18-annual-reference-model-cell-0-4:rule"/>
          <p:cNvSpPr/>
          <p:nvPr/>
        </p:nvSpPr>
        <p:spPr>
          <a:xfrm>
            <a:off x="5506821" y="3057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8-annual-reference-model:cell-text:0:5:0"/>
          <p:cNvSpPr/>
          <p:nvPr/>
        </p:nvSpPr>
        <p:spPr>
          <a:xfrm>
            <a:off x="6658661" y="2714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1014.940</a:t>
            </a:r>
            <a:endParaRPr lang="en-US" sz="1120" dirty="0"/>
          </a:p>
        </p:txBody>
      </p:sp>
      <p:sp>
        <p:nvSpPr>
          <p:cNvPr id="32" name="ps:s18-annual-reference-model-cell-0-5:rule"/>
          <p:cNvSpPr/>
          <p:nvPr/>
        </p:nvSpPr>
        <p:spPr>
          <a:xfrm>
            <a:off x="6544361" y="3057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3" name="ps:s18-annual-reference-model:cell:1:0"/>
          <p:cNvSpPr/>
          <p:nvPr/>
        </p:nvSpPr>
        <p:spPr>
          <a:xfrm>
            <a:off x="571500" y="30956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ps:s18-annual-reference-model:cell-text:1:0:0"/>
          <p:cNvSpPr/>
          <p:nvPr/>
        </p:nvSpPr>
        <p:spPr>
          <a:xfrm>
            <a:off x="685800" y="32051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</a:t>
            </a:r>
            <a:endParaRPr lang="en-US" sz="1120" dirty="0"/>
          </a:p>
        </p:txBody>
      </p:sp>
      <p:sp>
        <p:nvSpPr>
          <p:cNvPr id="35" name="ps:s18-annual-reference-model-cell-1-0:rule"/>
          <p:cNvSpPr/>
          <p:nvPr/>
        </p:nvSpPr>
        <p:spPr>
          <a:xfrm>
            <a:off x="571500" y="35147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8-annual-reference-model:cell-text:1:1:0"/>
          <p:cNvSpPr/>
          <p:nvPr/>
        </p:nvSpPr>
        <p:spPr>
          <a:xfrm>
            <a:off x="2508504" y="3171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196.893</a:t>
            </a:r>
            <a:endParaRPr lang="en-US" sz="1120" dirty="0"/>
          </a:p>
        </p:txBody>
      </p:sp>
      <p:sp>
        <p:nvSpPr>
          <p:cNvPr id="37" name="ps:s18-annual-reference-model-cell-1-1:rule"/>
          <p:cNvSpPr/>
          <p:nvPr/>
        </p:nvSpPr>
        <p:spPr>
          <a:xfrm>
            <a:off x="2394204" y="3514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8" name="ps:s18-annual-reference-model:cell-text:1:2:0"/>
          <p:cNvSpPr/>
          <p:nvPr/>
        </p:nvSpPr>
        <p:spPr>
          <a:xfrm>
            <a:off x="3546043" y="3171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235.250</a:t>
            </a:r>
            <a:endParaRPr lang="en-US" sz="1120" dirty="0"/>
          </a:p>
        </p:txBody>
      </p:sp>
      <p:sp>
        <p:nvSpPr>
          <p:cNvPr id="39" name="ps:s18-annual-reference-model-cell-1-2:rule"/>
          <p:cNvSpPr/>
          <p:nvPr/>
        </p:nvSpPr>
        <p:spPr>
          <a:xfrm>
            <a:off x="3431743" y="3514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0" name="ps:s18-annual-reference-model:cell-text:1:3:0"/>
          <p:cNvSpPr/>
          <p:nvPr/>
        </p:nvSpPr>
        <p:spPr>
          <a:xfrm>
            <a:off x="4583583" y="3171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275.117</a:t>
            </a:r>
            <a:endParaRPr lang="en-US" sz="1120" dirty="0"/>
          </a:p>
        </p:txBody>
      </p:sp>
      <p:sp>
        <p:nvSpPr>
          <p:cNvPr id="41" name="ps:s18-annual-reference-model-cell-1-3:rule"/>
          <p:cNvSpPr/>
          <p:nvPr/>
        </p:nvSpPr>
        <p:spPr>
          <a:xfrm>
            <a:off x="4469283" y="3514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2" name="ps:s18-annual-reference-model:cell-text:1:4:0"/>
          <p:cNvSpPr/>
          <p:nvPr/>
        </p:nvSpPr>
        <p:spPr>
          <a:xfrm>
            <a:off x="5621121" y="3171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318.690</a:t>
            </a:r>
            <a:endParaRPr lang="en-US" sz="1120" dirty="0"/>
          </a:p>
        </p:txBody>
      </p:sp>
      <p:sp>
        <p:nvSpPr>
          <p:cNvPr id="43" name="ps:s18-annual-reference-model-cell-1-4:rule"/>
          <p:cNvSpPr/>
          <p:nvPr/>
        </p:nvSpPr>
        <p:spPr>
          <a:xfrm>
            <a:off x="5506821" y="3514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4" name="ps:s18-annual-reference-model:cell-text:1:5:0"/>
          <p:cNvSpPr/>
          <p:nvPr/>
        </p:nvSpPr>
        <p:spPr>
          <a:xfrm>
            <a:off x="6658661" y="3171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354.719</a:t>
            </a:r>
            <a:endParaRPr lang="en-US" sz="1120" dirty="0"/>
          </a:p>
        </p:txBody>
      </p:sp>
      <p:sp>
        <p:nvSpPr>
          <p:cNvPr id="45" name="ps:s18-annual-reference-model-cell-1-5:rule"/>
          <p:cNvSpPr/>
          <p:nvPr/>
        </p:nvSpPr>
        <p:spPr>
          <a:xfrm>
            <a:off x="6544361" y="3514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8-annual-reference-model:cell:2:0"/>
          <p:cNvSpPr/>
          <p:nvPr/>
        </p:nvSpPr>
        <p:spPr>
          <a:xfrm>
            <a:off x="571500" y="35528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18-annual-reference-model:cell-text:2:0:0"/>
          <p:cNvSpPr/>
          <p:nvPr/>
        </p:nvSpPr>
        <p:spPr>
          <a:xfrm>
            <a:off x="685800" y="36623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NOPAT at 20% tax</a:t>
            </a:r>
            <a:endParaRPr lang="en-US" sz="1120" dirty="0"/>
          </a:p>
        </p:txBody>
      </p:sp>
      <p:sp>
        <p:nvSpPr>
          <p:cNvPr id="48" name="ps:s18-annual-reference-model-cell-2-0:rule"/>
          <p:cNvSpPr/>
          <p:nvPr/>
        </p:nvSpPr>
        <p:spPr>
          <a:xfrm>
            <a:off x="571500" y="39719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9" name="ps:s18-annual-reference-model:cell-text:2:1:0"/>
          <p:cNvSpPr/>
          <p:nvPr/>
        </p:nvSpPr>
        <p:spPr>
          <a:xfrm>
            <a:off x="2508504" y="3629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157.514</a:t>
            </a:r>
            <a:endParaRPr lang="en-US" sz="1120" dirty="0"/>
          </a:p>
        </p:txBody>
      </p:sp>
      <p:sp>
        <p:nvSpPr>
          <p:cNvPr id="50" name="ps:s18-annual-reference-model-cell-2-1:rule"/>
          <p:cNvSpPr/>
          <p:nvPr/>
        </p:nvSpPr>
        <p:spPr>
          <a:xfrm>
            <a:off x="2394204" y="3971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1" name="ps:s18-annual-reference-model:cell-text:2:2:0"/>
          <p:cNvSpPr/>
          <p:nvPr/>
        </p:nvSpPr>
        <p:spPr>
          <a:xfrm>
            <a:off x="3546043" y="3629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188.200</a:t>
            </a:r>
            <a:endParaRPr lang="en-US" sz="1120" dirty="0"/>
          </a:p>
        </p:txBody>
      </p:sp>
      <p:sp>
        <p:nvSpPr>
          <p:cNvPr id="52" name="ps:s18-annual-reference-model-cell-2-2:rule"/>
          <p:cNvSpPr/>
          <p:nvPr/>
        </p:nvSpPr>
        <p:spPr>
          <a:xfrm>
            <a:off x="3431743" y="3971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3" name="ps:s18-annual-reference-model:cell-text:2:3:0"/>
          <p:cNvSpPr/>
          <p:nvPr/>
        </p:nvSpPr>
        <p:spPr>
          <a:xfrm>
            <a:off x="4583583" y="3629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220.094</a:t>
            </a:r>
            <a:endParaRPr lang="en-US" sz="1120" dirty="0"/>
          </a:p>
        </p:txBody>
      </p:sp>
      <p:sp>
        <p:nvSpPr>
          <p:cNvPr id="54" name="ps:s18-annual-reference-model-cell-2-3:rule"/>
          <p:cNvSpPr/>
          <p:nvPr/>
        </p:nvSpPr>
        <p:spPr>
          <a:xfrm>
            <a:off x="4469283" y="3971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5" name="ps:s18-annual-reference-model:cell-text:2:4:0"/>
          <p:cNvSpPr/>
          <p:nvPr/>
        </p:nvSpPr>
        <p:spPr>
          <a:xfrm>
            <a:off x="5621121" y="3629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254.952</a:t>
            </a:r>
            <a:endParaRPr lang="en-US" sz="1120" dirty="0"/>
          </a:p>
        </p:txBody>
      </p:sp>
      <p:sp>
        <p:nvSpPr>
          <p:cNvPr id="56" name="ps:s18-annual-reference-model-cell-2-4:rule"/>
          <p:cNvSpPr/>
          <p:nvPr/>
        </p:nvSpPr>
        <p:spPr>
          <a:xfrm>
            <a:off x="5506821" y="3971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7" name="ps:s18-annual-reference-model:cell-text:2:5:0"/>
          <p:cNvSpPr/>
          <p:nvPr/>
        </p:nvSpPr>
        <p:spPr>
          <a:xfrm>
            <a:off x="6658661" y="3629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283.775</a:t>
            </a:r>
            <a:endParaRPr lang="en-US" sz="1120" dirty="0"/>
          </a:p>
        </p:txBody>
      </p:sp>
      <p:sp>
        <p:nvSpPr>
          <p:cNvPr id="58" name="ps:s18-annual-reference-model-cell-2-5:rule"/>
          <p:cNvSpPr/>
          <p:nvPr/>
        </p:nvSpPr>
        <p:spPr>
          <a:xfrm>
            <a:off x="6544361" y="3971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9" name="ps:s18-annual-reference-model:cell:3:0"/>
          <p:cNvSpPr/>
          <p:nvPr/>
        </p:nvSpPr>
        <p:spPr>
          <a:xfrm>
            <a:off x="571500" y="40100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ps:s18-annual-reference-model:cell-text:3:0:0"/>
          <p:cNvSpPr/>
          <p:nvPr/>
        </p:nvSpPr>
        <p:spPr>
          <a:xfrm>
            <a:off x="685800" y="41195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depreciation</a:t>
            </a:r>
            <a:endParaRPr lang="en-US" sz="1120" dirty="0"/>
          </a:p>
        </p:txBody>
      </p:sp>
      <p:sp>
        <p:nvSpPr>
          <p:cNvPr id="61" name="ps:s18-annual-reference-model-cell-3-0:rule"/>
          <p:cNvSpPr/>
          <p:nvPr/>
        </p:nvSpPr>
        <p:spPr>
          <a:xfrm>
            <a:off x="571500" y="44291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2" name="ps:s18-annual-reference-model:cell-text:3:1:0"/>
          <p:cNvSpPr/>
          <p:nvPr/>
        </p:nvSpPr>
        <p:spPr>
          <a:xfrm>
            <a:off x="2508504" y="4086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46.698</a:t>
            </a:r>
            <a:endParaRPr lang="en-US" sz="1120" dirty="0"/>
          </a:p>
        </p:txBody>
      </p:sp>
      <p:sp>
        <p:nvSpPr>
          <p:cNvPr id="63" name="ps:s18-annual-reference-model-cell-3-1:rule"/>
          <p:cNvSpPr/>
          <p:nvPr/>
        </p:nvSpPr>
        <p:spPr>
          <a:xfrm>
            <a:off x="2394204" y="4429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4" name="ps:s18-annual-reference-model:cell-text:3:2:0"/>
          <p:cNvSpPr/>
          <p:nvPr/>
        </p:nvSpPr>
        <p:spPr>
          <a:xfrm>
            <a:off x="3546043" y="4086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69.245</a:t>
            </a:r>
            <a:endParaRPr lang="en-US" sz="1120" dirty="0"/>
          </a:p>
        </p:txBody>
      </p:sp>
      <p:sp>
        <p:nvSpPr>
          <p:cNvPr id="65" name="ps:s18-annual-reference-model-cell-3-2:rule"/>
          <p:cNvSpPr/>
          <p:nvPr/>
        </p:nvSpPr>
        <p:spPr>
          <a:xfrm>
            <a:off x="3431743" y="4429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6" name="ps:s18-annual-reference-model:cell-text:3:3:0"/>
          <p:cNvSpPr/>
          <p:nvPr/>
        </p:nvSpPr>
        <p:spPr>
          <a:xfrm>
            <a:off x="4583583" y="4086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88.170</a:t>
            </a:r>
            <a:endParaRPr lang="en-US" sz="1120" dirty="0"/>
          </a:p>
        </p:txBody>
      </p:sp>
      <p:sp>
        <p:nvSpPr>
          <p:cNvPr id="67" name="ps:s18-annual-reference-model-cell-3-3:rule"/>
          <p:cNvSpPr/>
          <p:nvPr/>
        </p:nvSpPr>
        <p:spPr>
          <a:xfrm>
            <a:off x="4469283" y="4429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8" name="ps:s18-annual-reference-model:cell-text:3:4:0"/>
          <p:cNvSpPr/>
          <p:nvPr/>
        </p:nvSpPr>
        <p:spPr>
          <a:xfrm>
            <a:off x="5621121" y="4086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109.372</a:t>
            </a:r>
            <a:endParaRPr lang="en-US" sz="1120" dirty="0"/>
          </a:p>
        </p:txBody>
      </p:sp>
      <p:sp>
        <p:nvSpPr>
          <p:cNvPr id="69" name="ps:s18-annual-reference-model-cell-3-4:rule"/>
          <p:cNvSpPr/>
          <p:nvPr/>
        </p:nvSpPr>
        <p:spPr>
          <a:xfrm>
            <a:off x="5506821" y="4429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0" name="ps:s18-annual-reference-model:cell-text:3:5:0"/>
          <p:cNvSpPr/>
          <p:nvPr/>
        </p:nvSpPr>
        <p:spPr>
          <a:xfrm>
            <a:off x="6658661" y="4086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131.942</a:t>
            </a:r>
            <a:endParaRPr lang="en-US" sz="1120" dirty="0"/>
          </a:p>
        </p:txBody>
      </p:sp>
      <p:sp>
        <p:nvSpPr>
          <p:cNvPr id="71" name="ps:s18-annual-reference-model-cell-3-5:rule"/>
          <p:cNvSpPr/>
          <p:nvPr/>
        </p:nvSpPr>
        <p:spPr>
          <a:xfrm>
            <a:off x="6544361" y="4429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2" name="ps:s18-annual-reference-model:cell:4:0"/>
          <p:cNvSpPr/>
          <p:nvPr/>
        </p:nvSpPr>
        <p:spPr>
          <a:xfrm>
            <a:off x="571500" y="44672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ps:s18-annual-reference-model:cell-text:4:0:0"/>
          <p:cNvSpPr/>
          <p:nvPr/>
        </p:nvSpPr>
        <p:spPr>
          <a:xfrm>
            <a:off x="685800" y="45767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capex</a:t>
            </a:r>
            <a:endParaRPr lang="en-US" sz="1120" dirty="0"/>
          </a:p>
        </p:txBody>
      </p:sp>
      <p:sp>
        <p:nvSpPr>
          <p:cNvPr id="74" name="ps:s18-annual-reference-model-cell-4-0:rule"/>
          <p:cNvSpPr/>
          <p:nvPr/>
        </p:nvSpPr>
        <p:spPr>
          <a:xfrm>
            <a:off x="571500" y="48863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5" name="ps:s18-annual-reference-model:cell-text:4:1:0"/>
          <p:cNvSpPr/>
          <p:nvPr/>
        </p:nvSpPr>
        <p:spPr>
          <a:xfrm>
            <a:off x="2508504" y="4543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233.488</a:t>
            </a:r>
            <a:endParaRPr lang="en-US" sz="1120" dirty="0"/>
          </a:p>
        </p:txBody>
      </p:sp>
      <p:sp>
        <p:nvSpPr>
          <p:cNvPr id="76" name="ps:s18-annual-reference-model-cell-4-1:rule"/>
          <p:cNvSpPr/>
          <p:nvPr/>
        </p:nvSpPr>
        <p:spPr>
          <a:xfrm>
            <a:off x="2394204" y="4886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7" name="ps:s18-annual-reference-model:cell-text:4:2:0"/>
          <p:cNvSpPr/>
          <p:nvPr/>
        </p:nvSpPr>
        <p:spPr>
          <a:xfrm>
            <a:off x="3546043" y="4543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242.358</a:t>
            </a:r>
            <a:endParaRPr lang="en-US" sz="1120" dirty="0"/>
          </a:p>
        </p:txBody>
      </p:sp>
      <p:sp>
        <p:nvSpPr>
          <p:cNvPr id="78" name="ps:s18-annual-reference-model-cell-4-2:rule"/>
          <p:cNvSpPr/>
          <p:nvPr/>
        </p:nvSpPr>
        <p:spPr>
          <a:xfrm>
            <a:off x="3431743" y="4886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9" name="ps:s18-annual-reference-model:cell-text:4:3:0"/>
          <p:cNvSpPr/>
          <p:nvPr/>
        </p:nvSpPr>
        <p:spPr>
          <a:xfrm>
            <a:off x="4583583" y="4543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232.447</a:t>
            </a:r>
            <a:endParaRPr lang="en-US" sz="1120" dirty="0"/>
          </a:p>
        </p:txBody>
      </p:sp>
      <p:sp>
        <p:nvSpPr>
          <p:cNvPr id="80" name="ps:s18-annual-reference-model-cell-4-3:rule"/>
          <p:cNvSpPr/>
          <p:nvPr/>
        </p:nvSpPr>
        <p:spPr>
          <a:xfrm>
            <a:off x="4469283" y="4886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1" name="ps:s18-annual-reference-model:cell-text:4:4:0"/>
          <p:cNvSpPr/>
          <p:nvPr/>
        </p:nvSpPr>
        <p:spPr>
          <a:xfrm>
            <a:off x="5621121" y="4543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218.745</a:t>
            </a:r>
            <a:endParaRPr lang="en-US" sz="1120" dirty="0"/>
          </a:p>
        </p:txBody>
      </p:sp>
      <p:sp>
        <p:nvSpPr>
          <p:cNvPr id="82" name="ps:s18-annual-reference-model-cell-4-4:rule"/>
          <p:cNvSpPr/>
          <p:nvPr/>
        </p:nvSpPr>
        <p:spPr>
          <a:xfrm>
            <a:off x="5506821" y="4886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3" name="ps:s18-annual-reference-model:cell-text:4:5:0"/>
          <p:cNvSpPr/>
          <p:nvPr/>
        </p:nvSpPr>
        <p:spPr>
          <a:xfrm>
            <a:off x="6658661" y="4543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202.988</a:t>
            </a:r>
            <a:endParaRPr lang="en-US" sz="1120" dirty="0"/>
          </a:p>
        </p:txBody>
      </p:sp>
      <p:sp>
        <p:nvSpPr>
          <p:cNvPr id="84" name="ps:s18-annual-reference-model-cell-4-5:rule"/>
          <p:cNvSpPr/>
          <p:nvPr/>
        </p:nvSpPr>
        <p:spPr>
          <a:xfrm>
            <a:off x="6544361" y="4886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5" name="ps:s18-annual-reference-model:cell:5:0"/>
          <p:cNvSpPr/>
          <p:nvPr/>
        </p:nvSpPr>
        <p:spPr>
          <a:xfrm>
            <a:off x="571500" y="49244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ps:s18-annual-reference-model:cell-text:5:0:0"/>
          <p:cNvSpPr/>
          <p:nvPr/>
        </p:nvSpPr>
        <p:spPr>
          <a:xfrm>
            <a:off x="685800" y="50339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incremental WC</a:t>
            </a:r>
            <a:endParaRPr lang="en-US" sz="1120" dirty="0"/>
          </a:p>
        </p:txBody>
      </p:sp>
      <p:sp>
        <p:nvSpPr>
          <p:cNvPr id="87" name="ps:s18-annual-reference-model-cell-5-0:rule"/>
          <p:cNvSpPr/>
          <p:nvPr/>
        </p:nvSpPr>
        <p:spPr>
          <a:xfrm>
            <a:off x="571500" y="53435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8" name="ps:s18-annual-reference-model:cell-text:5:1:0"/>
          <p:cNvSpPr/>
          <p:nvPr/>
        </p:nvSpPr>
        <p:spPr>
          <a:xfrm>
            <a:off x="2508504" y="5000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10.496</a:t>
            </a:r>
            <a:endParaRPr lang="en-US" sz="1120" dirty="0"/>
          </a:p>
        </p:txBody>
      </p:sp>
      <p:sp>
        <p:nvSpPr>
          <p:cNvPr id="89" name="ps:s18-annual-reference-model-cell-5-1:rule"/>
          <p:cNvSpPr/>
          <p:nvPr/>
        </p:nvSpPr>
        <p:spPr>
          <a:xfrm>
            <a:off x="2394204" y="5343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0" name="ps:s18-annual-reference-model:cell-text:5:2:0"/>
          <p:cNvSpPr/>
          <p:nvPr/>
        </p:nvSpPr>
        <p:spPr>
          <a:xfrm>
            <a:off x="3546043" y="5000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10.873</a:t>
            </a:r>
            <a:endParaRPr lang="en-US" sz="1120" dirty="0"/>
          </a:p>
        </p:txBody>
      </p:sp>
      <p:sp>
        <p:nvSpPr>
          <p:cNvPr id="91" name="ps:s18-annual-reference-model-cell-5-2:rule"/>
          <p:cNvSpPr/>
          <p:nvPr/>
        </p:nvSpPr>
        <p:spPr>
          <a:xfrm>
            <a:off x="3431743" y="5343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2" name="ps:s18-annual-reference-model:cell-text:5:3:0"/>
          <p:cNvSpPr/>
          <p:nvPr/>
        </p:nvSpPr>
        <p:spPr>
          <a:xfrm>
            <a:off x="4583583" y="5000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10.909</a:t>
            </a:r>
            <a:endParaRPr lang="en-US" sz="1120" dirty="0"/>
          </a:p>
        </p:txBody>
      </p:sp>
      <p:sp>
        <p:nvSpPr>
          <p:cNvPr id="93" name="ps:s18-annual-reference-model-cell-5-3:rule"/>
          <p:cNvSpPr/>
          <p:nvPr/>
        </p:nvSpPr>
        <p:spPr>
          <a:xfrm>
            <a:off x="4469283" y="5343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4" name="ps:s18-annual-reference-model:cell-text:5:4:0"/>
          <p:cNvSpPr/>
          <p:nvPr/>
        </p:nvSpPr>
        <p:spPr>
          <a:xfrm>
            <a:off x="5621121" y="5000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10.989</a:t>
            </a:r>
            <a:endParaRPr lang="en-US" sz="1120" dirty="0"/>
          </a:p>
        </p:txBody>
      </p:sp>
      <p:sp>
        <p:nvSpPr>
          <p:cNvPr id="95" name="ps:s18-annual-reference-model-cell-5-4:rule"/>
          <p:cNvSpPr/>
          <p:nvPr/>
        </p:nvSpPr>
        <p:spPr>
          <a:xfrm>
            <a:off x="5506821" y="5343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6" name="ps:s18-annual-reference-model:cell-text:5:5:0"/>
          <p:cNvSpPr/>
          <p:nvPr/>
        </p:nvSpPr>
        <p:spPr>
          <a:xfrm>
            <a:off x="6658661" y="5000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10.350</a:t>
            </a:r>
            <a:endParaRPr lang="en-US" sz="1120" dirty="0"/>
          </a:p>
        </p:txBody>
      </p:sp>
      <p:sp>
        <p:nvSpPr>
          <p:cNvPr id="97" name="ps:s18-annual-reference-model-cell-5-5:rule"/>
          <p:cNvSpPr/>
          <p:nvPr/>
        </p:nvSpPr>
        <p:spPr>
          <a:xfrm>
            <a:off x="6544361" y="5343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8" name="ps:s18-annual-reference-model:cell:6:0"/>
          <p:cNvSpPr/>
          <p:nvPr/>
        </p:nvSpPr>
        <p:spPr>
          <a:xfrm>
            <a:off x="571500" y="53816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ps:s18-annual-reference-model:cell-text:6:0:0"/>
          <p:cNvSpPr/>
          <p:nvPr/>
        </p:nvSpPr>
        <p:spPr>
          <a:xfrm>
            <a:off x="685800" y="5491162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to firm</a:t>
            </a:r>
            <a:endParaRPr lang="en-US" sz="1120" dirty="0"/>
          </a:p>
        </p:txBody>
      </p:sp>
      <p:sp>
        <p:nvSpPr>
          <p:cNvPr id="100" name="ps:s18-annual-reference-model:cell-text:6:1:0"/>
          <p:cNvSpPr/>
          <p:nvPr/>
        </p:nvSpPr>
        <p:spPr>
          <a:xfrm>
            <a:off x="2508504" y="5457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-39.772</a:t>
            </a:r>
            <a:endParaRPr lang="en-US" sz="1120" dirty="0"/>
          </a:p>
        </p:txBody>
      </p:sp>
      <p:sp>
        <p:nvSpPr>
          <p:cNvPr id="101" name="ps:s18-annual-reference-model:cell-text:6:2:0"/>
          <p:cNvSpPr/>
          <p:nvPr/>
        </p:nvSpPr>
        <p:spPr>
          <a:xfrm>
            <a:off x="3546043" y="5457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4.214</a:t>
            </a:r>
            <a:endParaRPr lang="en-US" sz="1120" dirty="0"/>
          </a:p>
        </p:txBody>
      </p:sp>
      <p:sp>
        <p:nvSpPr>
          <p:cNvPr id="102" name="ps:s18-annual-reference-model:cell-text:6:3:0"/>
          <p:cNvSpPr/>
          <p:nvPr/>
        </p:nvSpPr>
        <p:spPr>
          <a:xfrm>
            <a:off x="4583583" y="5457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64.907</a:t>
            </a:r>
            <a:endParaRPr lang="en-US" sz="1120" dirty="0"/>
          </a:p>
        </p:txBody>
      </p:sp>
      <p:sp>
        <p:nvSpPr>
          <p:cNvPr id="103" name="ps:s18-annual-reference-model:cell-text:6:4:0"/>
          <p:cNvSpPr/>
          <p:nvPr/>
        </p:nvSpPr>
        <p:spPr>
          <a:xfrm>
            <a:off x="5621121" y="5457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134.590</a:t>
            </a:r>
            <a:endParaRPr lang="en-US" sz="1120" dirty="0"/>
          </a:p>
        </p:txBody>
      </p:sp>
      <p:sp>
        <p:nvSpPr>
          <p:cNvPr id="104" name="ps:s18-annual-reference-model:cell-text:6:5:0"/>
          <p:cNvSpPr/>
          <p:nvPr/>
        </p:nvSpPr>
        <p:spPr>
          <a:xfrm>
            <a:off x="6658661" y="5457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202.379</a:t>
            </a:r>
            <a:endParaRPr lang="en-US" sz="1120" dirty="0"/>
          </a:p>
        </p:txBody>
      </p:sp>
      <p:sp>
        <p:nvSpPr>
          <p:cNvPr id="105" name="ps:s18-appendix-18-method-heading:heading"/>
          <p:cNvSpPr/>
          <p:nvPr/>
        </p:nvSpPr>
        <p:spPr>
          <a:xfrm>
            <a:off x="8115300" y="1676400"/>
            <a:ext cx="350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scope</a:t>
            </a:r>
            <a:endParaRPr lang="en-US" sz="1280" dirty="0"/>
          </a:p>
        </p:txBody>
      </p:sp>
      <p:sp>
        <p:nvSpPr>
          <p:cNvPr id="106" name="ps:s18-appendix-18-method-heading:rule"/>
          <p:cNvSpPr/>
          <p:nvPr/>
        </p:nvSpPr>
        <p:spPr>
          <a:xfrm>
            <a:off x="8115300" y="19431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7" name="ps:s18-appendix-18-method-points:marker:0"/>
          <p:cNvSpPr/>
          <p:nvPr/>
        </p:nvSpPr>
        <p:spPr>
          <a:xfrm>
            <a:off x="8115300" y="24241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8" name="ps:s18-appendix-18-method-points:item:0"/>
          <p:cNvSpPr/>
          <p:nvPr/>
        </p:nvSpPr>
        <p:spPr>
          <a:xfrm>
            <a:off x="8267700" y="2362200"/>
            <a:ext cx="335280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analyst scenario. Year 0 is Q2 2026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ex hedging, not FY2026; economic SBC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in costs and equity gains are excluded.</a:t>
            </a:r>
            <a:endParaRPr lang="en-US" sz="1120" dirty="0"/>
          </a:p>
        </p:txBody>
      </p:sp>
      <p:sp>
        <p:nvSpPr>
          <p:cNvPr id="109" name="ps:s18-appendix-18-method-points:marker:1"/>
          <p:cNvSpPr/>
          <p:nvPr/>
        </p:nvSpPr>
        <p:spPr>
          <a:xfrm>
            <a:off x="8115300" y="29860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0" name="ps:s18-appendix-18-method-points:item:1"/>
          <p:cNvSpPr/>
          <p:nvPr/>
        </p:nvSpPr>
        <p:spPr>
          <a:xfrm>
            <a:off x="8267700" y="2924175"/>
            <a:ext cx="33528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attached model contains all driver arrays, other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cases, sensitivities and terminal calculations.</a:t>
            </a:r>
            <a:endParaRPr lang="en-US" sz="1120" dirty="0"/>
          </a:p>
        </p:txBody>
      </p:sp>
      <p:sp>
        <p:nvSpPr>
          <p:cNvPr id="111" name="ps:s18-appendix-18-method-points:marker:2"/>
          <p:cNvSpPr/>
          <p:nvPr/>
        </p:nvSpPr>
        <p:spPr>
          <a:xfrm>
            <a:off x="8115300" y="33861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2" name="ps:s18-appendix-18-method-points:item:2"/>
          <p:cNvSpPr/>
          <p:nvPr/>
        </p:nvSpPr>
        <p:spPr>
          <a:xfrm>
            <a:off x="8267700" y="3324225"/>
            <a:ext cx="335280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Unlevered FCFF uses an assumed enterprise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WACC, not cost of equity. WACC is constant;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debt enters the equity bridge once.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9-chrome:title"/>
          <p:cNvSpPr/>
          <p:nvPr/>
        </p:nvSpPr>
        <p:spPr>
          <a:xfrm>
            <a:off x="571500" y="457200"/>
            <a:ext cx="110490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equity bridge counts investment assets and capital claims once</a:t>
            </a:r>
            <a:endParaRPr lang="en-US" sz="2400" dirty="0"/>
          </a:p>
        </p:txBody>
      </p:sp>
      <p:sp>
        <p:nvSpPr>
          <p:cNvPr id="3" name="ps:s19-chrome:page-number"/>
          <p:cNvSpPr/>
          <p:nvPr/>
        </p:nvSpPr>
        <p:spPr>
          <a:xfrm>
            <a:off x="11391900" y="6572250"/>
            <a:ext cx="2286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40" dirty="0"/>
          </a:p>
        </p:txBody>
      </p:sp>
      <p:sp>
        <p:nvSpPr>
          <p:cNvPr id="4" name="ps:s19-chrome:source"/>
          <p:cNvSpPr/>
          <p:nvPr/>
        </p:nvSpPr>
        <p:spPr>
          <a:xfrm>
            <a:off x="571500" y="6572250"/>
            <a:ext cx="106680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640" dirty="0"/>
          </a:p>
        </p:txBody>
      </p:sp>
      <p:sp>
        <p:nvSpPr>
          <p:cNvPr id="5" name="ps:s19-appendix-19-related:separator"/>
          <p:cNvSpPr/>
          <p:nvPr/>
        </p:nvSpPr>
        <p:spPr>
          <a:xfrm>
            <a:off x="7848600" y="1428750"/>
            <a:ext cx="0" cy="49339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6" name="ps:s19-s19-table-title:heading"/>
          <p:cNvSpPr/>
          <p:nvPr/>
        </p:nvSpPr>
        <p:spPr>
          <a:xfrm>
            <a:off x="571500" y="1428750"/>
            <a:ext cx="70104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common equity</a:t>
            </a:r>
            <a:endParaRPr lang="en-US" sz="1280" dirty="0"/>
          </a:p>
        </p:txBody>
      </p:sp>
      <p:sp>
        <p:nvSpPr>
          <p:cNvPr id="7" name="ps:s19-s19-table-title:rule"/>
          <p:cNvSpPr/>
          <p:nvPr/>
        </p:nvSpPr>
        <p:spPr>
          <a:xfrm>
            <a:off x="571500" y="16954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9-equity-bridge:header-text:0"/>
          <p:cNvSpPr/>
          <p:nvPr/>
        </p:nvSpPr>
        <p:spPr>
          <a:xfrm>
            <a:off x="647700" y="2038350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bn at June 2026</a:t>
            </a:r>
            <a:endParaRPr lang="en-US" sz="960" dirty="0"/>
          </a:p>
        </p:txBody>
      </p:sp>
      <p:sp>
        <p:nvSpPr>
          <p:cNvPr id="9" name="ps:s19-equity-bridge:header-rule:0"/>
          <p:cNvSpPr/>
          <p:nvPr/>
        </p:nvSpPr>
        <p:spPr>
          <a:xfrm>
            <a:off x="571500" y="22574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0" name="ps:s19-equity-bridge:header-text:1"/>
          <p:cNvSpPr/>
          <p:nvPr/>
        </p:nvSpPr>
        <p:spPr>
          <a:xfrm>
            <a:off x="4082796" y="2038350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</a:t>
            </a:r>
            <a:endParaRPr lang="en-US" sz="960" dirty="0"/>
          </a:p>
        </p:txBody>
      </p:sp>
      <p:sp>
        <p:nvSpPr>
          <p:cNvPr id="11" name="ps:s19-equity-bridge:header-rule:1"/>
          <p:cNvSpPr/>
          <p:nvPr/>
        </p:nvSpPr>
        <p:spPr>
          <a:xfrm>
            <a:off x="4006596" y="2257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2" name="ps:s19-equity-bridge:header-text:2"/>
          <p:cNvSpPr/>
          <p:nvPr/>
        </p:nvSpPr>
        <p:spPr>
          <a:xfrm>
            <a:off x="5274564" y="2038350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60" dirty="0"/>
          </a:p>
        </p:txBody>
      </p:sp>
      <p:sp>
        <p:nvSpPr>
          <p:cNvPr id="13" name="ps:s19-equity-bridge:header-rule:2"/>
          <p:cNvSpPr/>
          <p:nvPr/>
        </p:nvSpPr>
        <p:spPr>
          <a:xfrm>
            <a:off x="5198364" y="2257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9-equity-bridge:header-text:3"/>
          <p:cNvSpPr/>
          <p:nvPr/>
        </p:nvSpPr>
        <p:spPr>
          <a:xfrm>
            <a:off x="6466332" y="2038350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960" dirty="0"/>
          </a:p>
        </p:txBody>
      </p:sp>
      <p:sp>
        <p:nvSpPr>
          <p:cNvPr id="15" name="ps:s19-equity-bridge:header-rule:3"/>
          <p:cNvSpPr/>
          <p:nvPr/>
        </p:nvSpPr>
        <p:spPr>
          <a:xfrm>
            <a:off x="6390132" y="2257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9-equity-bridge:cell:0:0"/>
          <p:cNvSpPr/>
          <p:nvPr/>
        </p:nvSpPr>
        <p:spPr>
          <a:xfrm>
            <a:off x="571500" y="22764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ps:s19-equity-bridge:cell-text:0:0:0"/>
          <p:cNvSpPr/>
          <p:nvPr/>
        </p:nvSpPr>
        <p:spPr>
          <a:xfrm>
            <a:off x="647700" y="23383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and marketable debt</a:t>
            </a:r>
            <a:endParaRPr lang="en-US" sz="960" dirty="0"/>
          </a:p>
        </p:txBody>
      </p:sp>
      <p:sp>
        <p:nvSpPr>
          <p:cNvPr id="18" name="ps:s19-equity-bridge-cell-0-0:rule"/>
          <p:cNvSpPr/>
          <p:nvPr/>
        </p:nvSpPr>
        <p:spPr>
          <a:xfrm>
            <a:off x="571500" y="25622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9" name="ps:s19-equity-bridge:cell-text:0:1:0"/>
          <p:cNvSpPr/>
          <p:nvPr/>
        </p:nvSpPr>
        <p:spPr>
          <a:xfrm>
            <a:off x="4082796" y="2333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960" dirty="0"/>
          </a:p>
        </p:txBody>
      </p:sp>
      <p:sp>
        <p:nvSpPr>
          <p:cNvPr id="20" name="ps:s19-equity-bridge-cell-0-1:rule"/>
          <p:cNvSpPr/>
          <p:nvPr/>
        </p:nvSpPr>
        <p:spPr>
          <a:xfrm>
            <a:off x="4006596" y="2562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9-equity-bridge:cell-text:0:2:0"/>
          <p:cNvSpPr/>
          <p:nvPr/>
        </p:nvSpPr>
        <p:spPr>
          <a:xfrm>
            <a:off x="5274564" y="2333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960" dirty="0"/>
          </a:p>
        </p:txBody>
      </p:sp>
      <p:sp>
        <p:nvSpPr>
          <p:cNvPr id="22" name="ps:s19-equity-bridge-cell-0-2:rule"/>
          <p:cNvSpPr/>
          <p:nvPr/>
        </p:nvSpPr>
        <p:spPr>
          <a:xfrm>
            <a:off x="5198364" y="2562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19-equity-bridge:cell-text:0:3:0"/>
          <p:cNvSpPr/>
          <p:nvPr/>
        </p:nvSpPr>
        <p:spPr>
          <a:xfrm>
            <a:off x="6466332" y="2333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960" dirty="0"/>
          </a:p>
        </p:txBody>
      </p:sp>
      <p:sp>
        <p:nvSpPr>
          <p:cNvPr id="24" name="ps:s19-equity-bridge-cell-0-3:rule"/>
          <p:cNvSpPr/>
          <p:nvPr/>
        </p:nvSpPr>
        <p:spPr>
          <a:xfrm>
            <a:off x="6390132" y="2562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9-equity-bridge:cell:1:0"/>
          <p:cNvSpPr/>
          <p:nvPr/>
        </p:nvSpPr>
        <p:spPr>
          <a:xfrm>
            <a:off x="571500" y="25812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ps:s19-equity-bridge:cell-text:1:0:0"/>
          <p:cNvSpPr/>
          <p:nvPr/>
        </p:nvSpPr>
        <p:spPr>
          <a:xfrm>
            <a:off x="647700" y="26431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recovery, net reserve</a:t>
            </a:r>
            <a:endParaRPr lang="en-US" sz="960" dirty="0"/>
          </a:p>
        </p:txBody>
      </p:sp>
      <p:sp>
        <p:nvSpPr>
          <p:cNvPr id="27" name="ps:s19-equity-bridge-cell-1-0:rule"/>
          <p:cNvSpPr/>
          <p:nvPr/>
        </p:nvSpPr>
        <p:spPr>
          <a:xfrm>
            <a:off x="571500" y="28670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19-equity-bridge:cell-text:1:1:0"/>
          <p:cNvSpPr/>
          <p:nvPr/>
        </p:nvSpPr>
        <p:spPr>
          <a:xfrm>
            <a:off x="4082796" y="2638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87.244</a:t>
            </a:r>
            <a:endParaRPr lang="en-US" sz="960" dirty="0"/>
          </a:p>
        </p:txBody>
      </p:sp>
      <p:sp>
        <p:nvSpPr>
          <p:cNvPr id="29" name="ps:s19-equity-bridge-cell-1-1:rule"/>
          <p:cNvSpPr/>
          <p:nvPr/>
        </p:nvSpPr>
        <p:spPr>
          <a:xfrm>
            <a:off x="4006596" y="2867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19-equity-bridge:cell-text:1:2:0"/>
          <p:cNvSpPr/>
          <p:nvPr/>
        </p:nvSpPr>
        <p:spPr>
          <a:xfrm>
            <a:off x="5274564" y="2638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130.866</a:t>
            </a:r>
            <a:endParaRPr lang="en-US" sz="960" dirty="0"/>
          </a:p>
        </p:txBody>
      </p:sp>
      <p:sp>
        <p:nvSpPr>
          <p:cNvPr id="31" name="ps:s19-equity-bridge-cell-1-2:rule"/>
          <p:cNvSpPr/>
          <p:nvPr/>
        </p:nvSpPr>
        <p:spPr>
          <a:xfrm>
            <a:off x="5198364" y="2867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2" name="ps:s19-equity-bridge:cell-text:1:3:0"/>
          <p:cNvSpPr/>
          <p:nvPr/>
        </p:nvSpPr>
        <p:spPr>
          <a:xfrm>
            <a:off x="6466332" y="2638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174.488</a:t>
            </a:r>
            <a:endParaRPr lang="en-US" sz="960" dirty="0"/>
          </a:p>
        </p:txBody>
      </p:sp>
      <p:sp>
        <p:nvSpPr>
          <p:cNvPr id="33" name="ps:s19-equity-bridge-cell-1-3:rule"/>
          <p:cNvSpPr/>
          <p:nvPr/>
        </p:nvSpPr>
        <p:spPr>
          <a:xfrm>
            <a:off x="6390132" y="2867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9-equity-bridge:cell:2:0"/>
          <p:cNvSpPr/>
          <p:nvPr/>
        </p:nvSpPr>
        <p:spPr>
          <a:xfrm>
            <a:off x="571500" y="28860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ps:s19-equity-bridge:cell-text:2:0:0"/>
          <p:cNvSpPr/>
          <p:nvPr/>
        </p:nvSpPr>
        <p:spPr>
          <a:xfrm>
            <a:off x="647700" y="2947987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face value</a:t>
            </a:r>
            <a:endParaRPr lang="en-US" sz="960" dirty="0"/>
          </a:p>
        </p:txBody>
      </p:sp>
      <p:sp>
        <p:nvSpPr>
          <p:cNvPr id="36" name="ps:s19-equity-bridge-cell-2-0:rule"/>
          <p:cNvSpPr/>
          <p:nvPr/>
        </p:nvSpPr>
        <p:spPr>
          <a:xfrm>
            <a:off x="571500" y="31718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19-equity-bridge:cell-text:2:1:0"/>
          <p:cNvSpPr/>
          <p:nvPr/>
        </p:nvSpPr>
        <p:spPr>
          <a:xfrm>
            <a:off x="4082796" y="2943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-101.085</a:t>
            </a:r>
            <a:endParaRPr lang="en-US" sz="960" dirty="0"/>
          </a:p>
        </p:txBody>
      </p:sp>
      <p:sp>
        <p:nvSpPr>
          <p:cNvPr id="38" name="ps:s19-equity-bridge-cell-2-1:rule"/>
          <p:cNvSpPr/>
          <p:nvPr/>
        </p:nvSpPr>
        <p:spPr>
          <a:xfrm>
            <a:off x="4006596" y="3171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9-equity-bridge:cell-text:2:2:0"/>
          <p:cNvSpPr/>
          <p:nvPr/>
        </p:nvSpPr>
        <p:spPr>
          <a:xfrm>
            <a:off x="5274564" y="2943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-101.085</a:t>
            </a:r>
            <a:endParaRPr lang="en-US" sz="960" dirty="0"/>
          </a:p>
        </p:txBody>
      </p:sp>
      <p:sp>
        <p:nvSpPr>
          <p:cNvPr id="40" name="ps:s19-equity-bridge-cell-2-2:rule"/>
          <p:cNvSpPr/>
          <p:nvPr/>
        </p:nvSpPr>
        <p:spPr>
          <a:xfrm>
            <a:off x="5198364" y="3171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9-equity-bridge:cell-text:2:3:0"/>
          <p:cNvSpPr/>
          <p:nvPr/>
        </p:nvSpPr>
        <p:spPr>
          <a:xfrm>
            <a:off x="6466332" y="2943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-101.085</a:t>
            </a:r>
            <a:endParaRPr lang="en-US" sz="960" dirty="0"/>
          </a:p>
        </p:txBody>
      </p:sp>
      <p:sp>
        <p:nvSpPr>
          <p:cNvPr id="42" name="ps:s19-equity-bridge-cell-2-3:rule"/>
          <p:cNvSpPr/>
          <p:nvPr/>
        </p:nvSpPr>
        <p:spPr>
          <a:xfrm>
            <a:off x="6390132" y="3171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3" name="ps:s19-equity-bridge:cell:3:0"/>
          <p:cNvSpPr/>
          <p:nvPr/>
        </p:nvSpPr>
        <p:spPr>
          <a:xfrm>
            <a:off x="571500" y="31908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ps:s19-equity-bridge:cell-text:3:0:0"/>
          <p:cNvSpPr/>
          <p:nvPr/>
        </p:nvSpPr>
        <p:spPr>
          <a:xfrm>
            <a:off x="647700" y="32527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leases</a:t>
            </a:r>
            <a:endParaRPr lang="en-US" sz="960" dirty="0"/>
          </a:p>
        </p:txBody>
      </p:sp>
      <p:sp>
        <p:nvSpPr>
          <p:cNvPr id="45" name="ps:s19-equity-bridge-cell-3-0:rule"/>
          <p:cNvSpPr/>
          <p:nvPr/>
        </p:nvSpPr>
        <p:spPr>
          <a:xfrm>
            <a:off x="571500" y="34766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9-equity-bridge:cell-text:3:1:0"/>
          <p:cNvSpPr/>
          <p:nvPr/>
        </p:nvSpPr>
        <p:spPr>
          <a:xfrm>
            <a:off x="4082796" y="3248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-2.590</a:t>
            </a:r>
            <a:endParaRPr lang="en-US" sz="960" dirty="0"/>
          </a:p>
        </p:txBody>
      </p:sp>
      <p:sp>
        <p:nvSpPr>
          <p:cNvPr id="47" name="ps:s19-equity-bridge-cell-3-1:rule"/>
          <p:cNvSpPr/>
          <p:nvPr/>
        </p:nvSpPr>
        <p:spPr>
          <a:xfrm>
            <a:off x="4006596" y="3476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8" name="ps:s19-equity-bridge:cell-text:3:2:0"/>
          <p:cNvSpPr/>
          <p:nvPr/>
        </p:nvSpPr>
        <p:spPr>
          <a:xfrm>
            <a:off x="5274564" y="3248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-2.590</a:t>
            </a:r>
            <a:endParaRPr lang="en-US" sz="960" dirty="0"/>
          </a:p>
        </p:txBody>
      </p:sp>
      <p:sp>
        <p:nvSpPr>
          <p:cNvPr id="49" name="ps:s19-equity-bridge-cell-3-2:rule"/>
          <p:cNvSpPr/>
          <p:nvPr/>
        </p:nvSpPr>
        <p:spPr>
          <a:xfrm>
            <a:off x="5198364" y="3476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0" name="ps:s19-equity-bridge:cell-text:3:3:0"/>
          <p:cNvSpPr/>
          <p:nvPr/>
        </p:nvSpPr>
        <p:spPr>
          <a:xfrm>
            <a:off x="6466332" y="3248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-2.590</a:t>
            </a:r>
            <a:endParaRPr lang="en-US" sz="960" dirty="0"/>
          </a:p>
        </p:txBody>
      </p:sp>
      <p:sp>
        <p:nvSpPr>
          <p:cNvPr id="51" name="ps:s19-equity-bridge-cell-3-3:rule"/>
          <p:cNvSpPr/>
          <p:nvPr/>
        </p:nvSpPr>
        <p:spPr>
          <a:xfrm>
            <a:off x="6390132" y="3476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2" name="ps:s19-equity-bridge:cell:4:0"/>
          <p:cNvSpPr/>
          <p:nvPr/>
        </p:nvSpPr>
        <p:spPr>
          <a:xfrm>
            <a:off x="571500" y="34956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ps:s19-equity-bridge:cell-text:4:0:0"/>
          <p:cNvSpPr/>
          <p:nvPr/>
        </p:nvSpPr>
        <p:spPr>
          <a:xfrm>
            <a:off x="647700" y="35575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economic proxy</a:t>
            </a:r>
            <a:endParaRPr lang="en-US" sz="960" dirty="0"/>
          </a:p>
        </p:txBody>
      </p:sp>
      <p:sp>
        <p:nvSpPr>
          <p:cNvPr id="54" name="ps:s19-equity-bridge-cell-4-0:rule"/>
          <p:cNvSpPr/>
          <p:nvPr/>
        </p:nvSpPr>
        <p:spPr>
          <a:xfrm>
            <a:off x="571500" y="37814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5" name="ps:s19-equity-bridge:cell-text:4:1:0"/>
          <p:cNvSpPr/>
          <p:nvPr/>
        </p:nvSpPr>
        <p:spPr>
          <a:xfrm>
            <a:off x="4082796" y="3552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-19.250</a:t>
            </a:r>
            <a:endParaRPr lang="en-US" sz="960" dirty="0"/>
          </a:p>
        </p:txBody>
      </p:sp>
      <p:sp>
        <p:nvSpPr>
          <p:cNvPr id="56" name="ps:s19-equity-bridge-cell-4-1:rule"/>
          <p:cNvSpPr/>
          <p:nvPr/>
        </p:nvSpPr>
        <p:spPr>
          <a:xfrm>
            <a:off x="4006596" y="3781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7" name="ps:s19-equity-bridge:cell-text:4:2:0"/>
          <p:cNvSpPr/>
          <p:nvPr/>
        </p:nvSpPr>
        <p:spPr>
          <a:xfrm>
            <a:off x="5274564" y="3552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-19.250</a:t>
            </a:r>
            <a:endParaRPr lang="en-US" sz="960" dirty="0"/>
          </a:p>
        </p:txBody>
      </p:sp>
      <p:sp>
        <p:nvSpPr>
          <p:cNvPr id="58" name="ps:s19-equity-bridge-cell-4-2:rule"/>
          <p:cNvSpPr/>
          <p:nvPr/>
        </p:nvSpPr>
        <p:spPr>
          <a:xfrm>
            <a:off x="5198364" y="3781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9" name="ps:s19-equity-bridge:cell-text:4:3:0"/>
          <p:cNvSpPr/>
          <p:nvPr/>
        </p:nvSpPr>
        <p:spPr>
          <a:xfrm>
            <a:off x="6466332" y="3552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-19.250</a:t>
            </a:r>
            <a:endParaRPr lang="en-US" sz="960" dirty="0"/>
          </a:p>
        </p:txBody>
      </p:sp>
      <p:sp>
        <p:nvSpPr>
          <p:cNvPr id="60" name="ps:s19-equity-bridge-cell-4-3:rule"/>
          <p:cNvSpPr/>
          <p:nvPr/>
        </p:nvSpPr>
        <p:spPr>
          <a:xfrm>
            <a:off x="6390132" y="3781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1" name="ps:s19-equity-bridge:cell:5:0"/>
          <p:cNvSpPr/>
          <p:nvPr/>
        </p:nvSpPr>
        <p:spPr>
          <a:xfrm>
            <a:off x="571500" y="38004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ps:s19-equity-bridge:cell-text:5:0:0"/>
          <p:cNvSpPr/>
          <p:nvPr/>
        </p:nvSpPr>
        <p:spPr>
          <a:xfrm>
            <a:off x="647700" y="3862387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and long-term tax reserves</a:t>
            </a:r>
            <a:endParaRPr lang="en-US" sz="960" dirty="0"/>
          </a:p>
        </p:txBody>
      </p:sp>
      <p:sp>
        <p:nvSpPr>
          <p:cNvPr id="63" name="ps:s19-equity-bridge-cell-5-0:rule"/>
          <p:cNvSpPr/>
          <p:nvPr/>
        </p:nvSpPr>
        <p:spPr>
          <a:xfrm>
            <a:off x="571500" y="40862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4" name="ps:s19-equity-bridge:cell-text:5:1:0"/>
          <p:cNvSpPr/>
          <p:nvPr/>
        </p:nvSpPr>
        <p:spPr>
          <a:xfrm>
            <a:off x="4082796" y="3857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-28.706</a:t>
            </a:r>
            <a:endParaRPr lang="en-US" sz="960" dirty="0"/>
          </a:p>
        </p:txBody>
      </p:sp>
      <p:sp>
        <p:nvSpPr>
          <p:cNvPr id="65" name="ps:s19-equity-bridge-cell-5-1:rule"/>
          <p:cNvSpPr/>
          <p:nvPr/>
        </p:nvSpPr>
        <p:spPr>
          <a:xfrm>
            <a:off x="4006596" y="4086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6" name="ps:s19-equity-bridge:cell-text:5:2:0"/>
          <p:cNvSpPr/>
          <p:nvPr/>
        </p:nvSpPr>
        <p:spPr>
          <a:xfrm>
            <a:off x="5274564" y="3857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-28.706</a:t>
            </a:r>
            <a:endParaRPr lang="en-US" sz="960" dirty="0"/>
          </a:p>
        </p:txBody>
      </p:sp>
      <p:sp>
        <p:nvSpPr>
          <p:cNvPr id="67" name="ps:s19-equity-bridge-cell-5-2:rule"/>
          <p:cNvSpPr/>
          <p:nvPr/>
        </p:nvSpPr>
        <p:spPr>
          <a:xfrm>
            <a:off x="5198364" y="4086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8" name="ps:s19-equity-bridge:cell-text:5:3:0"/>
          <p:cNvSpPr/>
          <p:nvPr/>
        </p:nvSpPr>
        <p:spPr>
          <a:xfrm>
            <a:off x="6466332" y="3857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-28.706</a:t>
            </a:r>
            <a:endParaRPr lang="en-US" sz="960" dirty="0"/>
          </a:p>
        </p:txBody>
      </p:sp>
      <p:sp>
        <p:nvSpPr>
          <p:cNvPr id="69" name="ps:s19-equity-bridge-cell-5-3:rule"/>
          <p:cNvSpPr/>
          <p:nvPr/>
        </p:nvSpPr>
        <p:spPr>
          <a:xfrm>
            <a:off x="6390132" y="4086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0" name="ps:s19-equity-bridge:cell:6:0"/>
          <p:cNvSpPr/>
          <p:nvPr/>
        </p:nvSpPr>
        <p:spPr>
          <a:xfrm>
            <a:off x="571500" y="41052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ps:s19-equity-bridge:cell-text:6:0:0"/>
          <p:cNvSpPr/>
          <p:nvPr/>
        </p:nvSpPr>
        <p:spPr>
          <a:xfrm>
            <a:off x="647700" y="41671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VIE funding</a:t>
            </a:r>
            <a:endParaRPr lang="en-US" sz="960" dirty="0"/>
          </a:p>
        </p:txBody>
      </p:sp>
      <p:sp>
        <p:nvSpPr>
          <p:cNvPr id="72" name="ps:s19-equity-bridge-cell-6-0:rule"/>
          <p:cNvSpPr/>
          <p:nvPr/>
        </p:nvSpPr>
        <p:spPr>
          <a:xfrm>
            <a:off x="571500" y="43910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3" name="ps:s19-equity-bridge:cell-text:6:1:0"/>
          <p:cNvSpPr/>
          <p:nvPr/>
        </p:nvSpPr>
        <p:spPr>
          <a:xfrm>
            <a:off x="4082796" y="4162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-21.900</a:t>
            </a:r>
            <a:endParaRPr lang="en-US" sz="960" dirty="0"/>
          </a:p>
        </p:txBody>
      </p:sp>
      <p:sp>
        <p:nvSpPr>
          <p:cNvPr id="74" name="ps:s19-equity-bridge-cell-6-1:rule"/>
          <p:cNvSpPr/>
          <p:nvPr/>
        </p:nvSpPr>
        <p:spPr>
          <a:xfrm>
            <a:off x="4006596" y="4391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5" name="ps:s19-equity-bridge:cell-text:6:2:0"/>
          <p:cNvSpPr/>
          <p:nvPr/>
        </p:nvSpPr>
        <p:spPr>
          <a:xfrm>
            <a:off x="5274564" y="4162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-21.900</a:t>
            </a:r>
            <a:endParaRPr lang="en-US" sz="960" dirty="0"/>
          </a:p>
        </p:txBody>
      </p:sp>
      <p:sp>
        <p:nvSpPr>
          <p:cNvPr id="76" name="ps:s19-equity-bridge-cell-6-2:rule"/>
          <p:cNvSpPr/>
          <p:nvPr/>
        </p:nvSpPr>
        <p:spPr>
          <a:xfrm>
            <a:off x="5198364" y="4391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7" name="ps:s19-equity-bridge:cell-text:6:3:0"/>
          <p:cNvSpPr/>
          <p:nvPr/>
        </p:nvSpPr>
        <p:spPr>
          <a:xfrm>
            <a:off x="6466332" y="4162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-21.900</a:t>
            </a:r>
            <a:endParaRPr lang="en-US" sz="960" dirty="0"/>
          </a:p>
        </p:txBody>
      </p:sp>
      <p:sp>
        <p:nvSpPr>
          <p:cNvPr id="78" name="ps:s19-equity-bridge-cell-6-3:rule"/>
          <p:cNvSpPr/>
          <p:nvPr/>
        </p:nvSpPr>
        <p:spPr>
          <a:xfrm>
            <a:off x="6390132" y="4391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9" name="ps:s19-equity-bridge:cell:7:0"/>
          <p:cNvSpPr/>
          <p:nvPr/>
        </p:nvSpPr>
        <p:spPr>
          <a:xfrm>
            <a:off x="571500" y="44100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ps:s19-equity-bridge:cell-text:7:0:0"/>
          <p:cNvSpPr/>
          <p:nvPr/>
        </p:nvSpPr>
        <p:spPr>
          <a:xfrm>
            <a:off x="647700" y="44719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Backstop loss reserve</a:t>
            </a:r>
            <a:endParaRPr lang="en-US" sz="960" dirty="0"/>
          </a:p>
        </p:txBody>
      </p:sp>
      <p:sp>
        <p:nvSpPr>
          <p:cNvPr id="81" name="ps:s19-equity-bridge-cell-7-0:rule"/>
          <p:cNvSpPr/>
          <p:nvPr/>
        </p:nvSpPr>
        <p:spPr>
          <a:xfrm>
            <a:off x="571500" y="46958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2" name="ps:s19-equity-bridge:cell-text:7:1:0"/>
          <p:cNvSpPr/>
          <p:nvPr/>
        </p:nvSpPr>
        <p:spPr>
          <a:xfrm>
            <a:off x="4082796" y="4467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-15.000</a:t>
            </a:r>
            <a:endParaRPr lang="en-US" sz="960" dirty="0"/>
          </a:p>
        </p:txBody>
      </p:sp>
      <p:sp>
        <p:nvSpPr>
          <p:cNvPr id="83" name="ps:s19-equity-bridge-cell-7-1:rule"/>
          <p:cNvSpPr/>
          <p:nvPr/>
        </p:nvSpPr>
        <p:spPr>
          <a:xfrm>
            <a:off x="4006596" y="4695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4" name="ps:s19-equity-bridge:cell-text:7:2:0"/>
          <p:cNvSpPr/>
          <p:nvPr/>
        </p:nvSpPr>
        <p:spPr>
          <a:xfrm>
            <a:off x="5274564" y="4467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-5.000</a:t>
            </a:r>
            <a:endParaRPr lang="en-US" sz="960" dirty="0"/>
          </a:p>
        </p:txBody>
      </p:sp>
      <p:sp>
        <p:nvSpPr>
          <p:cNvPr id="85" name="ps:s19-equity-bridge-cell-7-2:rule"/>
          <p:cNvSpPr/>
          <p:nvPr/>
        </p:nvSpPr>
        <p:spPr>
          <a:xfrm>
            <a:off x="5198364" y="4695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6" name="ps:s19-equity-bridge:cell-text:7:3:0"/>
          <p:cNvSpPr/>
          <p:nvPr/>
        </p:nvSpPr>
        <p:spPr>
          <a:xfrm>
            <a:off x="6466332" y="4467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960" dirty="0"/>
          </a:p>
        </p:txBody>
      </p:sp>
      <p:sp>
        <p:nvSpPr>
          <p:cNvPr id="87" name="ps:s19-equity-bridge-cell-7-3:rule"/>
          <p:cNvSpPr/>
          <p:nvPr/>
        </p:nvSpPr>
        <p:spPr>
          <a:xfrm>
            <a:off x="6390132" y="4695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8" name="ps:s19-equity-bridge:cell:8:0"/>
          <p:cNvSpPr/>
          <p:nvPr/>
        </p:nvSpPr>
        <p:spPr>
          <a:xfrm>
            <a:off x="571500" y="47148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ps:s19-equity-bridge:cell-text:8:0:0"/>
          <p:cNvSpPr/>
          <p:nvPr/>
        </p:nvSpPr>
        <p:spPr>
          <a:xfrm>
            <a:off x="647700" y="4776787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bridge to common equity</a:t>
            </a:r>
            <a:endParaRPr lang="en-US" sz="960" dirty="0"/>
          </a:p>
        </p:txBody>
      </p:sp>
      <p:sp>
        <p:nvSpPr>
          <p:cNvPr id="90" name="ps:s19-equity-bridge:cell-text:8:1:0"/>
          <p:cNvSpPr/>
          <p:nvPr/>
        </p:nvSpPr>
        <p:spPr>
          <a:xfrm>
            <a:off x="4082796" y="4772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54.124</a:t>
            </a:r>
            <a:endParaRPr lang="en-US" sz="960" dirty="0"/>
          </a:p>
        </p:txBody>
      </p:sp>
      <p:sp>
        <p:nvSpPr>
          <p:cNvPr id="91" name="ps:s19-equity-bridge:cell-text:8:2:0"/>
          <p:cNvSpPr/>
          <p:nvPr/>
        </p:nvSpPr>
        <p:spPr>
          <a:xfrm>
            <a:off x="5274564" y="4772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107.746</a:t>
            </a:r>
            <a:endParaRPr lang="en-US" sz="960" dirty="0"/>
          </a:p>
        </p:txBody>
      </p:sp>
      <p:sp>
        <p:nvSpPr>
          <p:cNvPr id="92" name="ps:s19-equity-bridge:cell-text:8:3:0"/>
          <p:cNvSpPr/>
          <p:nvPr/>
        </p:nvSpPr>
        <p:spPr>
          <a:xfrm>
            <a:off x="6466332" y="4772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156.368</a:t>
            </a:r>
            <a:endParaRPr lang="en-US" sz="960" dirty="0"/>
          </a:p>
        </p:txBody>
      </p:sp>
      <p:sp>
        <p:nvSpPr>
          <p:cNvPr id="93" name="ps:s19-appendix-19-method-heading:heading"/>
          <p:cNvSpPr/>
          <p:nvPr/>
        </p:nvSpPr>
        <p:spPr>
          <a:xfrm>
            <a:off x="8115300" y="1428750"/>
            <a:ext cx="350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definitions and overlap controls</a:t>
            </a:r>
            <a:endParaRPr lang="en-US" sz="1280" dirty="0"/>
          </a:p>
        </p:txBody>
      </p:sp>
      <p:sp>
        <p:nvSpPr>
          <p:cNvPr id="94" name="ps:s19-appendix-19-method-heading:rule"/>
          <p:cNvSpPr/>
          <p:nvPr/>
        </p:nvSpPr>
        <p:spPr>
          <a:xfrm>
            <a:off x="8115300" y="169545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5" name="ps:s19-appendix-19-method-points:marker:0"/>
          <p:cNvSpPr/>
          <p:nvPr/>
        </p:nvSpPr>
        <p:spPr>
          <a:xfrm>
            <a:off x="8115300" y="217646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6" name="ps:s19-appendix-19-method-points:item:0"/>
          <p:cNvSpPr/>
          <p:nvPr/>
        </p:nvSpPr>
        <p:spPr>
          <a:xfrm>
            <a:off x="8267700" y="2114550"/>
            <a:ext cx="33528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recovery includes a 25% tax/friction reserve,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second overlapping deferred-tax deduction.</a:t>
            </a:r>
            <a:endParaRPr lang="en-US" sz="1120" dirty="0"/>
          </a:p>
        </p:txBody>
      </p:sp>
      <p:sp>
        <p:nvSpPr>
          <p:cNvPr id="97" name="ps:s19-appendix-19-method-points:marker:1"/>
          <p:cNvSpPr/>
          <p:nvPr/>
        </p:nvSpPr>
        <p:spPr>
          <a:xfrm>
            <a:off x="8115300" y="257651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8" name="ps:s19-appendix-19-method-points:item:1"/>
          <p:cNvSpPr/>
          <p:nvPr/>
        </p:nvSpPr>
        <p:spPr>
          <a:xfrm>
            <a:off x="8267700" y="2514600"/>
            <a:ext cx="33528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Legal/tax reserves comprise $17.400bn and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$11.306bn. Preferred is a 2029 conversion proxy, not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redemption; converted-share dilution is not also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charged.</a:t>
            </a:r>
            <a:endParaRPr lang="en-US" sz="1120" dirty="0"/>
          </a:p>
        </p:txBody>
      </p:sp>
      <p:sp>
        <p:nvSpPr>
          <p:cNvPr id="99" name="ps:s19-appendix-19-method-points:marker:2"/>
          <p:cNvSpPr/>
          <p:nvPr/>
        </p:nvSpPr>
        <p:spPr>
          <a:xfrm>
            <a:off x="8115300" y="33004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0" name="ps:s19-appendix-19-method-points:item:2"/>
          <p:cNvSpPr/>
          <p:nvPr/>
        </p:nvSpPr>
        <p:spPr>
          <a:xfrm>
            <a:off x="8267700" y="3238500"/>
            <a:ext cx="33528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commitments and operating leases overlap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capex and costs. Maximum backstop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exposures are not expected losses; the denominator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12.230bn common shares across all classes.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essional Slides">
  <a:themeElements>
    <a:clrScheme name="Professional Slides">
      <a:dk1>
        <a:srgbClr val="051C2C"/>
      </a:dk1>
      <a:lt1>
        <a:srgbClr val="FFFFFF"/>
      </a:lt1>
      <a:dk2>
        <a:srgbClr val="4D4D4D"/>
      </a:dk2>
      <a:lt2>
        <a:srgbClr val="F0F0F0"/>
      </a:lt2>
      <a:accent1>
        <a:srgbClr val="051C2C"/>
      </a:accent1>
      <a:accent2>
        <a:srgbClr val="034B6F"/>
      </a:accent2>
      <a:accent3>
        <a:srgbClr val="00A9F4"/>
      </a:accent3>
      <a:accent4>
        <a:srgbClr val="027AB1"/>
      </a:accent4>
      <a:accent5>
        <a:srgbClr val="2251FF"/>
      </a:accent5>
      <a:accent6>
        <a:srgbClr val="71D2F1"/>
      </a:accent6>
      <a:hlink>
        <a:srgbClr val="0877BE"/>
      </a:hlink>
      <a:folHlink>
        <a:srgbClr val="027AB1"/>
      </a:folHlink>
    </a:clrScheme>
    <a:fontScheme name="Professional Slid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Professional 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alphabet-q2-2026-investment-committee</dc:title>
  <dc:subject>Deterministic component fixture</dc:subject>
  <dc:creator>Professional Slides runtime</dc:creator>
  <cp:lastModifiedBy>Professional Slides runtime</cp:lastModifiedBy>
  <cp:revision>1</cp:revision>
  <dcterms:created xsi:type="dcterms:W3CDTF">2026-09-06T08:32:02Z</dcterms:created>
  <dcterms:modified xsi:type="dcterms:W3CDTF">2026-09-06T08:32:02Z</dcterms:modified>
</cp:coreProperties>
</file>